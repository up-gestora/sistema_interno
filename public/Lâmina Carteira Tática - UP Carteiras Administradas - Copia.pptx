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73" r:id="rId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a:srgbClr val="003060"/>
    <a:srgbClr val="7491A3"/>
    <a:srgbClr val="023E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853" autoAdjust="0"/>
    <p:restoredTop sz="94660"/>
  </p:normalViewPr>
  <p:slideViewPr>
    <p:cSldViewPr snapToGrid="0">
      <p:cViewPr varScale="1">
        <p:scale>
          <a:sx n="80" d="100"/>
          <a:sy n="80" d="100"/>
        </p:scale>
        <p:origin x="370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Igor\Documents\Apresenta&#231;&#245;es%20UP\Track%20Record%20Carteira%20T&#225;tic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Igor\Documents\Apresenta&#231;&#245;es%20UP\Track%20Record%20Carteira%20T&#225;tica.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0"/>
          <c:tx>
            <c:strRef>
              <c:f>TrackRecord!$K$11</c:f>
              <c:strCache>
                <c:ptCount val="1"/>
                <c:pt idx="0">
                  <c:v>Var% IFIX</c:v>
                </c:pt>
              </c:strCache>
            </c:strRef>
          </c:tx>
          <c:spPr>
            <a:ln w="12700" cap="rnd">
              <a:solidFill>
                <a:schemeClr val="tx1"/>
              </a:solidFill>
              <a:prstDash val="sysDash"/>
              <a:round/>
            </a:ln>
            <a:effectLst/>
          </c:spPr>
          <c:marker>
            <c:symbol val="none"/>
          </c:marker>
          <c:cat>
            <c:strRef>
              <c:f>TrackRecord!$B$12:$B$319</c:f>
              <c:strCache>
                <c:ptCount val="308"/>
                <c:pt idx="0">
                  <c:v>4-out.</c:v>
                </c:pt>
                <c:pt idx="1">
                  <c:v>7-out.</c:v>
                </c:pt>
                <c:pt idx="2">
                  <c:v>8-out.</c:v>
                </c:pt>
                <c:pt idx="3">
                  <c:v>9-out.</c:v>
                </c:pt>
                <c:pt idx="4">
                  <c:v>10-out.</c:v>
                </c:pt>
                <c:pt idx="5">
                  <c:v>11-out.</c:v>
                </c:pt>
                <c:pt idx="6">
                  <c:v>14-out.</c:v>
                </c:pt>
                <c:pt idx="7">
                  <c:v>15-out.</c:v>
                </c:pt>
                <c:pt idx="8">
                  <c:v>16-out.</c:v>
                </c:pt>
                <c:pt idx="9">
                  <c:v>17-out.</c:v>
                </c:pt>
                <c:pt idx="10">
                  <c:v>18-out.</c:v>
                </c:pt>
                <c:pt idx="11">
                  <c:v>21-out.</c:v>
                </c:pt>
                <c:pt idx="12">
                  <c:v>22-out.</c:v>
                </c:pt>
                <c:pt idx="13">
                  <c:v>23-out.</c:v>
                </c:pt>
                <c:pt idx="14">
                  <c:v>24-out.</c:v>
                </c:pt>
                <c:pt idx="15">
                  <c:v>25-out.</c:v>
                </c:pt>
                <c:pt idx="16">
                  <c:v>28-out.</c:v>
                </c:pt>
                <c:pt idx="17">
                  <c:v>29-out.</c:v>
                </c:pt>
                <c:pt idx="18">
                  <c:v>30-out.</c:v>
                </c:pt>
                <c:pt idx="19">
                  <c:v>31-out.</c:v>
                </c:pt>
                <c:pt idx="20">
                  <c:v>1-nov.</c:v>
                </c:pt>
                <c:pt idx="21">
                  <c:v>4-nov.</c:v>
                </c:pt>
                <c:pt idx="22">
                  <c:v>5-nov.</c:v>
                </c:pt>
                <c:pt idx="23">
                  <c:v>6-nov.</c:v>
                </c:pt>
                <c:pt idx="24">
                  <c:v>7-nov.</c:v>
                </c:pt>
                <c:pt idx="25">
                  <c:v>8-nov.</c:v>
                </c:pt>
                <c:pt idx="26">
                  <c:v>11-nov.</c:v>
                </c:pt>
                <c:pt idx="27">
                  <c:v>12-nov.</c:v>
                </c:pt>
                <c:pt idx="28">
                  <c:v>13-nov.</c:v>
                </c:pt>
                <c:pt idx="29">
                  <c:v>14-nov.</c:v>
                </c:pt>
                <c:pt idx="30">
                  <c:v>18-nov.</c:v>
                </c:pt>
                <c:pt idx="31">
                  <c:v>19-nov.</c:v>
                </c:pt>
                <c:pt idx="32">
                  <c:v>21-nov.</c:v>
                </c:pt>
                <c:pt idx="33">
                  <c:v>22-nov.</c:v>
                </c:pt>
                <c:pt idx="34">
                  <c:v>25-nov.</c:v>
                </c:pt>
                <c:pt idx="35">
                  <c:v>26-nov.</c:v>
                </c:pt>
                <c:pt idx="36">
                  <c:v>27-nov.</c:v>
                </c:pt>
                <c:pt idx="37">
                  <c:v>28-nov.</c:v>
                </c:pt>
                <c:pt idx="38">
                  <c:v>29-nov.</c:v>
                </c:pt>
                <c:pt idx="39">
                  <c:v>2-dez.</c:v>
                </c:pt>
                <c:pt idx="40">
                  <c:v>3-dez.</c:v>
                </c:pt>
                <c:pt idx="41">
                  <c:v>4-dez.</c:v>
                </c:pt>
                <c:pt idx="42">
                  <c:v>5-dez.</c:v>
                </c:pt>
                <c:pt idx="43">
                  <c:v>6-dez.</c:v>
                </c:pt>
                <c:pt idx="44">
                  <c:v>9-dez.</c:v>
                </c:pt>
                <c:pt idx="45">
                  <c:v>10-dez.</c:v>
                </c:pt>
                <c:pt idx="46">
                  <c:v>11-dez.</c:v>
                </c:pt>
                <c:pt idx="47">
                  <c:v>12-dez.</c:v>
                </c:pt>
                <c:pt idx="48">
                  <c:v>13-dez.</c:v>
                </c:pt>
                <c:pt idx="49">
                  <c:v>16-dez.</c:v>
                </c:pt>
                <c:pt idx="50">
                  <c:v>17-dez.</c:v>
                </c:pt>
                <c:pt idx="51">
                  <c:v>18-dez.</c:v>
                </c:pt>
                <c:pt idx="52">
                  <c:v>19-dez.</c:v>
                </c:pt>
                <c:pt idx="53">
                  <c:v>20-dez.</c:v>
                </c:pt>
                <c:pt idx="54">
                  <c:v>23-dez.</c:v>
                </c:pt>
                <c:pt idx="55">
                  <c:v>26-dez.</c:v>
                </c:pt>
                <c:pt idx="56">
                  <c:v>27-dez.</c:v>
                </c:pt>
                <c:pt idx="57">
                  <c:v>30-dez.</c:v>
                </c:pt>
                <c:pt idx="58">
                  <c:v>2-jan.</c:v>
                </c:pt>
                <c:pt idx="59">
                  <c:v>3-jan.</c:v>
                </c:pt>
                <c:pt idx="60">
                  <c:v>6-jan.</c:v>
                </c:pt>
                <c:pt idx="61">
                  <c:v>7-jan.</c:v>
                </c:pt>
                <c:pt idx="62">
                  <c:v>8-jan.</c:v>
                </c:pt>
                <c:pt idx="63">
                  <c:v>9-jan.</c:v>
                </c:pt>
                <c:pt idx="64">
                  <c:v>10-jan.</c:v>
                </c:pt>
                <c:pt idx="65">
                  <c:v>13-jan.</c:v>
                </c:pt>
                <c:pt idx="66">
                  <c:v>14-jan.</c:v>
                </c:pt>
                <c:pt idx="67">
                  <c:v>15-jan.</c:v>
                </c:pt>
                <c:pt idx="68">
                  <c:v>16-jan.</c:v>
                </c:pt>
                <c:pt idx="69">
                  <c:v>17-jan.</c:v>
                </c:pt>
                <c:pt idx="70">
                  <c:v>20-jan.</c:v>
                </c:pt>
                <c:pt idx="71">
                  <c:v>21-jan.</c:v>
                </c:pt>
                <c:pt idx="72">
                  <c:v>22-jan.</c:v>
                </c:pt>
                <c:pt idx="73">
                  <c:v>23-jan.</c:v>
                </c:pt>
                <c:pt idx="74">
                  <c:v>24-jan.</c:v>
                </c:pt>
                <c:pt idx="75">
                  <c:v>27-jan.</c:v>
                </c:pt>
                <c:pt idx="76">
                  <c:v>28-jan.</c:v>
                </c:pt>
                <c:pt idx="77">
                  <c:v>29-jan.</c:v>
                </c:pt>
                <c:pt idx="78">
                  <c:v>30-jan.</c:v>
                </c:pt>
                <c:pt idx="79">
                  <c:v>31-jan.</c:v>
                </c:pt>
                <c:pt idx="80">
                  <c:v>3-fev.</c:v>
                </c:pt>
                <c:pt idx="81">
                  <c:v>4-fev.</c:v>
                </c:pt>
                <c:pt idx="82">
                  <c:v>5-fev.</c:v>
                </c:pt>
                <c:pt idx="83">
                  <c:v>6-fev.</c:v>
                </c:pt>
                <c:pt idx="84">
                  <c:v>7-fev.</c:v>
                </c:pt>
                <c:pt idx="85">
                  <c:v>10-fev.</c:v>
                </c:pt>
                <c:pt idx="86">
                  <c:v>11-fev.</c:v>
                </c:pt>
                <c:pt idx="87">
                  <c:v>12-fev.</c:v>
                </c:pt>
                <c:pt idx="88">
                  <c:v>13-fev.</c:v>
                </c:pt>
                <c:pt idx="89">
                  <c:v>14-fev.</c:v>
                </c:pt>
                <c:pt idx="90">
                  <c:v>17-fev.</c:v>
                </c:pt>
                <c:pt idx="91">
                  <c:v>18-fev.</c:v>
                </c:pt>
                <c:pt idx="92">
                  <c:v>19-fev.</c:v>
                </c:pt>
                <c:pt idx="93">
                  <c:v>20-fev.</c:v>
                </c:pt>
                <c:pt idx="94">
                  <c:v>21-fev.</c:v>
                </c:pt>
                <c:pt idx="95">
                  <c:v>24-fev.</c:v>
                </c:pt>
                <c:pt idx="96">
                  <c:v>25-fev.</c:v>
                </c:pt>
                <c:pt idx="97">
                  <c:v>26-fev.</c:v>
                </c:pt>
                <c:pt idx="98">
                  <c:v>27-fev.</c:v>
                </c:pt>
                <c:pt idx="99">
                  <c:v>28-fev.</c:v>
                </c:pt>
                <c:pt idx="100">
                  <c:v>05-mar.</c:v>
                </c:pt>
                <c:pt idx="101">
                  <c:v>06-mar.</c:v>
                </c:pt>
                <c:pt idx="102">
                  <c:v>07-mar.</c:v>
                </c:pt>
                <c:pt idx="103">
                  <c:v>10-mar.</c:v>
                </c:pt>
                <c:pt idx="104">
                  <c:v>11-mar.</c:v>
                </c:pt>
                <c:pt idx="105">
                  <c:v>12-mar.</c:v>
                </c:pt>
                <c:pt idx="106">
                  <c:v>13-mar.</c:v>
                </c:pt>
                <c:pt idx="107">
                  <c:v>14-mar.</c:v>
                </c:pt>
                <c:pt idx="108">
                  <c:v>17-mar.</c:v>
                </c:pt>
                <c:pt idx="109">
                  <c:v>18-mar.</c:v>
                </c:pt>
                <c:pt idx="110">
                  <c:v>19-mar.</c:v>
                </c:pt>
                <c:pt idx="111">
                  <c:v>20-mar.</c:v>
                </c:pt>
                <c:pt idx="112">
                  <c:v>21-mar.</c:v>
                </c:pt>
                <c:pt idx="113">
                  <c:v>24-mar. </c:v>
                </c:pt>
                <c:pt idx="114">
                  <c:v>25-mar.</c:v>
                </c:pt>
                <c:pt idx="115">
                  <c:v>26-mar.</c:v>
                </c:pt>
                <c:pt idx="116">
                  <c:v>27-mar.</c:v>
                </c:pt>
                <c:pt idx="117">
                  <c:v>28-mar.</c:v>
                </c:pt>
                <c:pt idx="118">
                  <c:v>31-mar.</c:v>
                </c:pt>
                <c:pt idx="119">
                  <c:v>01-abr.</c:v>
                </c:pt>
                <c:pt idx="120">
                  <c:v>02-abr.</c:v>
                </c:pt>
                <c:pt idx="121">
                  <c:v>03-abr.</c:v>
                </c:pt>
                <c:pt idx="122">
                  <c:v>04-abr.</c:v>
                </c:pt>
                <c:pt idx="123">
                  <c:v>07-abr.</c:v>
                </c:pt>
                <c:pt idx="124">
                  <c:v>08-abr.</c:v>
                </c:pt>
                <c:pt idx="125">
                  <c:v>09-abr.</c:v>
                </c:pt>
                <c:pt idx="126">
                  <c:v>10-abr.</c:v>
                </c:pt>
                <c:pt idx="127">
                  <c:v>11-abr.</c:v>
                </c:pt>
                <c:pt idx="128">
                  <c:v>14-abr.</c:v>
                </c:pt>
                <c:pt idx="129">
                  <c:v>15-abr.</c:v>
                </c:pt>
                <c:pt idx="130">
                  <c:v>16-abr.</c:v>
                </c:pt>
                <c:pt idx="131">
                  <c:v>17-abr.</c:v>
                </c:pt>
                <c:pt idx="132">
                  <c:v>22-abr.</c:v>
                </c:pt>
                <c:pt idx="133">
                  <c:v>23-abr.</c:v>
                </c:pt>
                <c:pt idx="134">
                  <c:v>24-abr.</c:v>
                </c:pt>
                <c:pt idx="135">
                  <c:v>25-abr.</c:v>
                </c:pt>
                <c:pt idx="136">
                  <c:v>28-abr.</c:v>
                </c:pt>
                <c:pt idx="137">
                  <c:v>29-abr.</c:v>
                </c:pt>
                <c:pt idx="138">
                  <c:v>30-abr.</c:v>
                </c:pt>
                <c:pt idx="139">
                  <c:v>02-mai.</c:v>
                </c:pt>
                <c:pt idx="140">
                  <c:v>05-mai.</c:v>
                </c:pt>
                <c:pt idx="141">
                  <c:v>06-mai.</c:v>
                </c:pt>
                <c:pt idx="142">
                  <c:v>07-mai.</c:v>
                </c:pt>
                <c:pt idx="143">
                  <c:v>08-mai.</c:v>
                </c:pt>
                <c:pt idx="144">
                  <c:v>09-mai.</c:v>
                </c:pt>
                <c:pt idx="145">
                  <c:v>12-mai.</c:v>
                </c:pt>
                <c:pt idx="146">
                  <c:v>13-mai.</c:v>
                </c:pt>
                <c:pt idx="147">
                  <c:v>14-mai.</c:v>
                </c:pt>
                <c:pt idx="148">
                  <c:v>15-mai.</c:v>
                </c:pt>
                <c:pt idx="149">
                  <c:v>16-mai.</c:v>
                </c:pt>
                <c:pt idx="150">
                  <c:v>19-mai.</c:v>
                </c:pt>
                <c:pt idx="151">
                  <c:v>20-mai.</c:v>
                </c:pt>
                <c:pt idx="152">
                  <c:v>21-mai.</c:v>
                </c:pt>
                <c:pt idx="153">
                  <c:v>22-mai.</c:v>
                </c:pt>
                <c:pt idx="154">
                  <c:v>23-mai.</c:v>
                </c:pt>
                <c:pt idx="155">
                  <c:v>26-mai.</c:v>
                </c:pt>
                <c:pt idx="156">
                  <c:v>27-mai.</c:v>
                </c:pt>
                <c:pt idx="157">
                  <c:v>28-mai.</c:v>
                </c:pt>
                <c:pt idx="158">
                  <c:v>29-mai.</c:v>
                </c:pt>
                <c:pt idx="159">
                  <c:v>30-mai.</c:v>
                </c:pt>
                <c:pt idx="160">
                  <c:v>02-jun.</c:v>
                </c:pt>
                <c:pt idx="161">
                  <c:v>03-jun.</c:v>
                </c:pt>
                <c:pt idx="162">
                  <c:v>04-jun.</c:v>
                </c:pt>
                <c:pt idx="163">
                  <c:v>05-jun.</c:v>
                </c:pt>
                <c:pt idx="164">
                  <c:v>06-jun.</c:v>
                </c:pt>
                <c:pt idx="165">
                  <c:v>09-jun.</c:v>
                </c:pt>
                <c:pt idx="166">
                  <c:v>10-jun.</c:v>
                </c:pt>
                <c:pt idx="167">
                  <c:v>11-jun.</c:v>
                </c:pt>
                <c:pt idx="168">
                  <c:v>12-jun.</c:v>
                </c:pt>
                <c:pt idx="169">
                  <c:v>13-jun.</c:v>
                </c:pt>
                <c:pt idx="170">
                  <c:v>16-jun.</c:v>
                </c:pt>
                <c:pt idx="171">
                  <c:v>17-jun.</c:v>
                </c:pt>
                <c:pt idx="172">
                  <c:v>18-jun.</c:v>
                </c:pt>
                <c:pt idx="173">
                  <c:v>20-jun.</c:v>
                </c:pt>
                <c:pt idx="174">
                  <c:v>23-jun.</c:v>
                </c:pt>
                <c:pt idx="175">
                  <c:v>24-jun.</c:v>
                </c:pt>
                <c:pt idx="176">
                  <c:v>25-jun.</c:v>
                </c:pt>
                <c:pt idx="177">
                  <c:v>26-jun.</c:v>
                </c:pt>
                <c:pt idx="178">
                  <c:v>27-jun.</c:v>
                </c:pt>
                <c:pt idx="179">
                  <c:v>30/jun.</c:v>
                </c:pt>
                <c:pt idx="180">
                  <c:v>01/jul.</c:v>
                </c:pt>
                <c:pt idx="181">
                  <c:v>02/jul.</c:v>
                </c:pt>
                <c:pt idx="182">
                  <c:v>03/jul.</c:v>
                </c:pt>
                <c:pt idx="183">
                  <c:v>04/jul.</c:v>
                </c:pt>
                <c:pt idx="184">
                  <c:v>07/jul.</c:v>
                </c:pt>
                <c:pt idx="185">
                  <c:v>08/jul.</c:v>
                </c:pt>
                <c:pt idx="186">
                  <c:v>09/jul.</c:v>
                </c:pt>
                <c:pt idx="187">
                  <c:v>10/jul.</c:v>
                </c:pt>
                <c:pt idx="188">
                  <c:v>11/jul.</c:v>
                </c:pt>
                <c:pt idx="189">
                  <c:v>14/jul.</c:v>
                </c:pt>
                <c:pt idx="190">
                  <c:v>15/jul.</c:v>
                </c:pt>
                <c:pt idx="191">
                  <c:v>16/jul.</c:v>
                </c:pt>
                <c:pt idx="192">
                  <c:v>17/jul.</c:v>
                </c:pt>
                <c:pt idx="193">
                  <c:v>18/jul.</c:v>
                </c:pt>
                <c:pt idx="194">
                  <c:v>21/jul.</c:v>
                </c:pt>
                <c:pt idx="195">
                  <c:v>22/jul.</c:v>
                </c:pt>
                <c:pt idx="196">
                  <c:v>23/jul.</c:v>
                </c:pt>
                <c:pt idx="197">
                  <c:v>24/jul.</c:v>
                </c:pt>
                <c:pt idx="198">
                  <c:v>25/jul.</c:v>
                </c:pt>
                <c:pt idx="199">
                  <c:v>28/jul.</c:v>
                </c:pt>
                <c:pt idx="200">
                  <c:v>29/jul.</c:v>
                </c:pt>
                <c:pt idx="201">
                  <c:v>30/jul.</c:v>
                </c:pt>
                <c:pt idx="202">
                  <c:v>31/jul.</c:v>
                </c:pt>
                <c:pt idx="203">
                  <c:v>01/ago.</c:v>
                </c:pt>
                <c:pt idx="204">
                  <c:v>04/ago.</c:v>
                </c:pt>
                <c:pt idx="205">
                  <c:v>05/ago.</c:v>
                </c:pt>
                <c:pt idx="206">
                  <c:v>06/ago.</c:v>
                </c:pt>
                <c:pt idx="207">
                  <c:v>07/ago.</c:v>
                </c:pt>
                <c:pt idx="208">
                  <c:v>08/ago.</c:v>
                </c:pt>
                <c:pt idx="209">
                  <c:v>11/ago.</c:v>
                </c:pt>
                <c:pt idx="210">
                  <c:v>12/ago.</c:v>
                </c:pt>
                <c:pt idx="211">
                  <c:v>13/ago.</c:v>
                </c:pt>
                <c:pt idx="212">
                  <c:v>14/ago.</c:v>
                </c:pt>
                <c:pt idx="213">
                  <c:v>15/ago.</c:v>
                </c:pt>
                <c:pt idx="214">
                  <c:v>18/ago.</c:v>
                </c:pt>
                <c:pt idx="215">
                  <c:v>19/ago.</c:v>
                </c:pt>
                <c:pt idx="216">
                  <c:v>20/ago.</c:v>
                </c:pt>
                <c:pt idx="217">
                  <c:v>21/ago.</c:v>
                </c:pt>
                <c:pt idx="218">
                  <c:v>22/ago.</c:v>
                </c:pt>
                <c:pt idx="219">
                  <c:v>25/ago.</c:v>
                </c:pt>
                <c:pt idx="220">
                  <c:v>26/ago.</c:v>
                </c:pt>
                <c:pt idx="221">
                  <c:v>27/ago.</c:v>
                </c:pt>
                <c:pt idx="222">
                  <c:v>28/ago.</c:v>
                </c:pt>
                <c:pt idx="223">
                  <c:v>29/ago.</c:v>
                </c:pt>
                <c:pt idx="224">
                  <c:v>01/set.</c:v>
                </c:pt>
                <c:pt idx="225">
                  <c:v>02/set.</c:v>
                </c:pt>
                <c:pt idx="226">
                  <c:v>03/set.</c:v>
                </c:pt>
                <c:pt idx="227">
                  <c:v>04/set.</c:v>
                </c:pt>
                <c:pt idx="228">
                  <c:v>05/set.</c:v>
                </c:pt>
                <c:pt idx="229">
                  <c:v>08/set.</c:v>
                </c:pt>
                <c:pt idx="230">
                  <c:v>09/set.</c:v>
                </c:pt>
                <c:pt idx="231">
                  <c:v>10/set.</c:v>
                </c:pt>
                <c:pt idx="232">
                  <c:v>11/set.</c:v>
                </c:pt>
                <c:pt idx="233">
                  <c:v>12/set.</c:v>
                </c:pt>
                <c:pt idx="234">
                  <c:v>15/set.</c:v>
                </c:pt>
                <c:pt idx="235">
                  <c:v>16/set.</c:v>
                </c:pt>
                <c:pt idx="236">
                  <c:v>17/set.</c:v>
                </c:pt>
                <c:pt idx="237">
                  <c:v>18/set.</c:v>
                </c:pt>
                <c:pt idx="238">
                  <c:v>19/set.</c:v>
                </c:pt>
                <c:pt idx="239">
                  <c:v>22/set.</c:v>
                </c:pt>
                <c:pt idx="240">
                  <c:v>23/set.</c:v>
                </c:pt>
                <c:pt idx="241">
                  <c:v>24/set.</c:v>
                </c:pt>
                <c:pt idx="242">
                  <c:v>25/set.</c:v>
                </c:pt>
                <c:pt idx="243">
                  <c:v>26/set.</c:v>
                </c:pt>
                <c:pt idx="244">
                  <c:v>29/set.</c:v>
                </c:pt>
                <c:pt idx="245">
                  <c:v>30/set.</c:v>
                </c:pt>
                <c:pt idx="246">
                  <c:v>01/out.</c:v>
                </c:pt>
                <c:pt idx="247">
                  <c:v>02/out.</c:v>
                </c:pt>
                <c:pt idx="248">
                  <c:v>03/out.</c:v>
                </c:pt>
                <c:pt idx="249">
                  <c:v>06/out.</c:v>
                </c:pt>
                <c:pt idx="250">
                  <c:v>07/out.</c:v>
                </c:pt>
                <c:pt idx="251">
                  <c:v>08/out.</c:v>
                </c:pt>
                <c:pt idx="252">
                  <c:v>09/out.</c:v>
                </c:pt>
                <c:pt idx="253">
                  <c:v>10/out.</c:v>
                </c:pt>
                <c:pt idx="254">
                  <c:v>13/out.</c:v>
                </c:pt>
                <c:pt idx="255">
                  <c:v>14/out.</c:v>
                </c:pt>
                <c:pt idx="256">
                  <c:v>15/out.</c:v>
                </c:pt>
                <c:pt idx="257">
                  <c:v>16/out.</c:v>
                </c:pt>
                <c:pt idx="258">
                  <c:v>17/out.</c:v>
                </c:pt>
                <c:pt idx="259">
                  <c:v>20/out.</c:v>
                </c:pt>
                <c:pt idx="260">
                  <c:v>21/out.</c:v>
                </c:pt>
                <c:pt idx="261">
                  <c:v>22/out.</c:v>
                </c:pt>
                <c:pt idx="262">
                  <c:v>23/out.</c:v>
                </c:pt>
                <c:pt idx="263">
                  <c:v>24/out.</c:v>
                </c:pt>
                <c:pt idx="264">
                  <c:v>27/out.</c:v>
                </c:pt>
                <c:pt idx="265">
                  <c:v>28/out.</c:v>
                </c:pt>
                <c:pt idx="266">
                  <c:v>29/out.</c:v>
                </c:pt>
                <c:pt idx="267">
                  <c:v>30/out.</c:v>
                </c:pt>
                <c:pt idx="268">
                  <c:v>31/out.</c:v>
                </c:pt>
                <c:pt idx="269">
                  <c:v>03/nov.</c:v>
                </c:pt>
                <c:pt idx="270">
                  <c:v>04/nov.</c:v>
                </c:pt>
                <c:pt idx="271">
                  <c:v>05/nov.</c:v>
                </c:pt>
                <c:pt idx="272">
                  <c:v>06/nov.</c:v>
                </c:pt>
                <c:pt idx="273">
                  <c:v>07/nov.</c:v>
                </c:pt>
                <c:pt idx="274">
                  <c:v>10/nov.</c:v>
                </c:pt>
                <c:pt idx="275">
                  <c:v>11/nov.</c:v>
                </c:pt>
                <c:pt idx="276">
                  <c:v>12/nov.</c:v>
                </c:pt>
                <c:pt idx="277">
                  <c:v>13/nov.</c:v>
                </c:pt>
                <c:pt idx="278">
                  <c:v>14/nov.</c:v>
                </c:pt>
                <c:pt idx="279">
                  <c:v>17/nov.</c:v>
                </c:pt>
                <c:pt idx="280">
                  <c:v>18/nov.</c:v>
                </c:pt>
                <c:pt idx="281">
                  <c:v>19/nov.</c:v>
                </c:pt>
                <c:pt idx="282">
                  <c:v>21/nov.</c:v>
                </c:pt>
                <c:pt idx="283">
                  <c:v>24/nov.</c:v>
                </c:pt>
                <c:pt idx="284">
                  <c:v>25/nov.</c:v>
                </c:pt>
                <c:pt idx="285">
                  <c:v>26/nov.</c:v>
                </c:pt>
                <c:pt idx="286">
                  <c:v>27/nov.</c:v>
                </c:pt>
                <c:pt idx="287">
                  <c:v>28/nov.</c:v>
                </c:pt>
                <c:pt idx="288">
                  <c:v>01/dez.</c:v>
                </c:pt>
                <c:pt idx="289">
                  <c:v>02/dez.</c:v>
                </c:pt>
                <c:pt idx="290">
                  <c:v>03/dez.</c:v>
                </c:pt>
                <c:pt idx="291">
                  <c:v>04/dez.</c:v>
                </c:pt>
                <c:pt idx="292">
                  <c:v>05/dez.</c:v>
                </c:pt>
                <c:pt idx="293">
                  <c:v>08/dez.</c:v>
                </c:pt>
                <c:pt idx="294">
                  <c:v>09/dez.</c:v>
                </c:pt>
                <c:pt idx="295">
                  <c:v>10/dez.</c:v>
                </c:pt>
                <c:pt idx="296">
                  <c:v>11/dez.</c:v>
                </c:pt>
                <c:pt idx="297">
                  <c:v>12/dez.</c:v>
                </c:pt>
                <c:pt idx="298">
                  <c:v>15/dez.</c:v>
                </c:pt>
                <c:pt idx="299">
                  <c:v>16/dez.</c:v>
                </c:pt>
                <c:pt idx="300">
                  <c:v>17/dez.</c:v>
                </c:pt>
                <c:pt idx="301">
                  <c:v>18/dez.</c:v>
                </c:pt>
                <c:pt idx="302">
                  <c:v>19/dez.</c:v>
                </c:pt>
                <c:pt idx="303">
                  <c:v>22/dez.</c:v>
                </c:pt>
                <c:pt idx="304">
                  <c:v>23/dez.</c:v>
                </c:pt>
                <c:pt idx="305">
                  <c:v>26/dez.</c:v>
                </c:pt>
                <c:pt idx="306">
                  <c:v>29/dez.</c:v>
                </c:pt>
                <c:pt idx="307">
                  <c:v>30/dez.</c:v>
                </c:pt>
              </c:strCache>
            </c:strRef>
          </c:cat>
          <c:val>
            <c:numRef>
              <c:f>TrackRecord!$K$12:$K$319</c:f>
              <c:numCache>
                <c:formatCode>0.00%</c:formatCode>
                <c:ptCount val="308"/>
                <c:pt idx="1">
                  <c:v>0</c:v>
                </c:pt>
                <c:pt idx="2">
                  <c:v>-5.7997557997556681E-3</c:v>
                </c:pt>
                <c:pt idx="3">
                  <c:v>-1.3431013431013272E-2</c:v>
                </c:pt>
                <c:pt idx="4">
                  <c:v>-2.0146520146520075E-2</c:v>
                </c:pt>
                <c:pt idx="5">
                  <c:v>-1.8009768009767946E-2</c:v>
                </c:pt>
                <c:pt idx="6">
                  <c:v>-1.4652014652014489E-2</c:v>
                </c:pt>
                <c:pt idx="7">
                  <c:v>-1.2820512820512775E-2</c:v>
                </c:pt>
                <c:pt idx="8">
                  <c:v>-1.2820512820512775E-2</c:v>
                </c:pt>
                <c:pt idx="9">
                  <c:v>-1.4041514041513992E-2</c:v>
                </c:pt>
                <c:pt idx="10">
                  <c:v>-1.2210012210012056E-2</c:v>
                </c:pt>
                <c:pt idx="11">
                  <c:v>-1.7704517704517642E-2</c:v>
                </c:pt>
                <c:pt idx="12">
                  <c:v>-2.0757020757020683E-2</c:v>
                </c:pt>
                <c:pt idx="13">
                  <c:v>-2.9609279609279615E-2</c:v>
                </c:pt>
                <c:pt idx="14">
                  <c:v>-3.2661782661782546E-2</c:v>
                </c:pt>
                <c:pt idx="15">
                  <c:v>-2.8693528693528703E-2</c:v>
                </c:pt>
                <c:pt idx="16">
                  <c:v>-2.6251526251526158E-2</c:v>
                </c:pt>
                <c:pt idx="17">
                  <c:v>-2.4114774114774029E-2</c:v>
                </c:pt>
                <c:pt idx="18">
                  <c:v>-2.1062271062271098E-2</c:v>
                </c:pt>
                <c:pt idx="19">
                  <c:v>-2.1672771672771596E-2</c:v>
                </c:pt>
                <c:pt idx="20">
                  <c:v>-2.3809523809523725E-2</c:v>
                </c:pt>
                <c:pt idx="21">
                  <c:v>-2.7167277167277182E-2</c:v>
                </c:pt>
                <c:pt idx="22">
                  <c:v>-2.6862026862026767E-2</c:v>
                </c:pt>
                <c:pt idx="23">
                  <c:v>-2.93040293040292E-2</c:v>
                </c:pt>
                <c:pt idx="24">
                  <c:v>-2.8083028083027983E-2</c:v>
                </c:pt>
                <c:pt idx="25">
                  <c:v>-2.4420024420024333E-2</c:v>
                </c:pt>
                <c:pt idx="26">
                  <c:v>-3.296703296703285E-2</c:v>
                </c:pt>
                <c:pt idx="27">
                  <c:v>-3.6935286935286915E-2</c:v>
                </c:pt>
                <c:pt idx="28">
                  <c:v>-3.9377289377289348E-2</c:v>
                </c:pt>
                <c:pt idx="29">
                  <c:v>-3.8156288156288132E-2</c:v>
                </c:pt>
                <c:pt idx="30">
                  <c:v>-3.6324786324786307E-2</c:v>
                </c:pt>
                <c:pt idx="31">
                  <c:v>-3.4493284493284482E-2</c:v>
                </c:pt>
                <c:pt idx="32">
                  <c:v>-3.4798534798534786E-2</c:v>
                </c:pt>
                <c:pt idx="33">
                  <c:v>-3.0525030525030417E-2</c:v>
                </c:pt>
                <c:pt idx="34">
                  <c:v>-2.8998778998778896E-2</c:v>
                </c:pt>
                <c:pt idx="35">
                  <c:v>-2.8083028083027983E-2</c:v>
                </c:pt>
                <c:pt idx="36">
                  <c:v>-3.2051282051282048E-2</c:v>
                </c:pt>
                <c:pt idx="37">
                  <c:v>-4.1819291819291782E-2</c:v>
                </c:pt>
                <c:pt idx="38">
                  <c:v>-4.242979242979239E-2</c:v>
                </c:pt>
                <c:pt idx="39">
                  <c:v>-5.2808302808302732E-2</c:v>
                </c:pt>
                <c:pt idx="40">
                  <c:v>-6.2271062271062161E-2</c:v>
                </c:pt>
                <c:pt idx="41">
                  <c:v>-7.7228327228327176E-2</c:v>
                </c:pt>
                <c:pt idx="42">
                  <c:v>-9.4932844932844929E-2</c:v>
                </c:pt>
                <c:pt idx="43">
                  <c:v>-7.8754578754578808E-2</c:v>
                </c:pt>
                <c:pt idx="44">
                  <c:v>-8.4554334554334476E-2</c:v>
                </c:pt>
                <c:pt idx="45">
                  <c:v>-9.4932844932844929E-2</c:v>
                </c:pt>
                <c:pt idx="46">
                  <c:v>-0.10256410256410253</c:v>
                </c:pt>
                <c:pt idx="47">
                  <c:v>-0.1004273504273504</c:v>
                </c:pt>
                <c:pt idx="48">
                  <c:v>-9.1880341880341776E-2</c:v>
                </c:pt>
                <c:pt idx="49">
                  <c:v>-9.7374847374847362E-2</c:v>
                </c:pt>
                <c:pt idx="50">
                  <c:v>-0.1074481074481074</c:v>
                </c:pt>
                <c:pt idx="51">
                  <c:v>-0.11904761904761896</c:v>
                </c:pt>
                <c:pt idx="52">
                  <c:v>-0.12148962148962139</c:v>
                </c:pt>
                <c:pt idx="53">
                  <c:v>-0.1004273504273504</c:v>
                </c:pt>
                <c:pt idx="54">
                  <c:v>-7.7838827838827784E-2</c:v>
                </c:pt>
                <c:pt idx="55">
                  <c:v>-6.3186813186813184E-2</c:v>
                </c:pt>
                <c:pt idx="56">
                  <c:v>-4.975579975579969E-2</c:v>
                </c:pt>
                <c:pt idx="57">
                  <c:v>-4.8840048840048778E-2</c:v>
                </c:pt>
                <c:pt idx="58">
                  <c:v>-4.8534798534798473E-2</c:v>
                </c:pt>
                <c:pt idx="59">
                  <c:v>-4.8534798534798473E-2</c:v>
                </c:pt>
                <c:pt idx="60">
                  <c:v>-4.7924297924297754E-2</c:v>
                </c:pt>
                <c:pt idx="61">
                  <c:v>-4.9145299145298971E-2</c:v>
                </c:pt>
                <c:pt idx="62">
                  <c:v>-5.7997557997558014E-2</c:v>
                </c:pt>
                <c:pt idx="63">
                  <c:v>-6.288156288156288E-2</c:v>
                </c:pt>
                <c:pt idx="64">
                  <c:v>-6.0744810744810751E-2</c:v>
                </c:pt>
                <c:pt idx="65">
                  <c:v>-6.3492063492063378E-2</c:v>
                </c:pt>
                <c:pt idx="66">
                  <c:v>-6.4407814407814401E-2</c:v>
                </c:pt>
                <c:pt idx="67">
                  <c:v>-5.6471306471306382E-2</c:v>
                </c:pt>
                <c:pt idx="68">
                  <c:v>-5.8608058608058511E-2</c:v>
                </c:pt>
                <c:pt idx="69">
                  <c:v>-7.1733821733821701E-2</c:v>
                </c:pt>
                <c:pt idx="70">
                  <c:v>-7.2649572649572614E-2</c:v>
                </c:pt>
                <c:pt idx="71">
                  <c:v>-7.8754578754578808E-2</c:v>
                </c:pt>
                <c:pt idx="72">
                  <c:v>-8.0891330891330826E-2</c:v>
                </c:pt>
                <c:pt idx="73">
                  <c:v>-8.5164835164835195E-2</c:v>
                </c:pt>
                <c:pt idx="74">
                  <c:v>-8.3943833943833868E-2</c:v>
                </c:pt>
                <c:pt idx="75">
                  <c:v>-8.7606837606837629E-2</c:v>
                </c:pt>
                <c:pt idx="76">
                  <c:v>-9.1880341880341776E-2</c:v>
                </c:pt>
                <c:pt idx="77">
                  <c:v>-9.3101343101342993E-2</c:v>
                </c:pt>
                <c:pt idx="78">
                  <c:v>-8.5164835164835195E-2</c:v>
                </c:pt>
                <c:pt idx="79">
                  <c:v>-7.7838827838827784E-2</c:v>
                </c:pt>
                <c:pt idx="80">
                  <c:v>-8.3943833943833868E-2</c:v>
                </c:pt>
                <c:pt idx="81">
                  <c:v>-8.4249084249084172E-2</c:v>
                </c:pt>
                <c:pt idx="82">
                  <c:v>-8.6080586080585997E-2</c:v>
                </c:pt>
                <c:pt idx="83">
                  <c:v>-8.5775335775335693E-2</c:v>
                </c:pt>
                <c:pt idx="84">
                  <c:v>-8.2112332112332043E-2</c:v>
                </c:pt>
                <c:pt idx="85">
                  <c:v>-8.2722832722832651E-2</c:v>
                </c:pt>
                <c:pt idx="86">
                  <c:v>-8.3028083028082955E-2</c:v>
                </c:pt>
                <c:pt idx="87">
                  <c:v>-8.2722832722832651E-2</c:v>
                </c:pt>
                <c:pt idx="88">
                  <c:v>-8.485958485958478E-2</c:v>
                </c:pt>
                <c:pt idx="89">
                  <c:v>-7.8754578754578808E-2</c:v>
                </c:pt>
                <c:pt idx="90">
                  <c:v>-7.0818070818070789E-2</c:v>
                </c:pt>
                <c:pt idx="91">
                  <c:v>-6.5934065934065811E-2</c:v>
                </c:pt>
                <c:pt idx="92">
                  <c:v>-6.5934065934065811E-2</c:v>
                </c:pt>
                <c:pt idx="93">
                  <c:v>-6.1355311355311248E-2</c:v>
                </c:pt>
                <c:pt idx="94">
                  <c:v>-5.1587301587301515E-2</c:v>
                </c:pt>
                <c:pt idx="95">
                  <c:v>-4.975579975579969E-2</c:v>
                </c:pt>
                <c:pt idx="96">
                  <c:v>-4.8229548229548169E-2</c:v>
                </c:pt>
                <c:pt idx="97">
                  <c:v>-5.1892551892551819E-2</c:v>
                </c:pt>
                <c:pt idx="98">
                  <c:v>-4.9145299145298971E-2</c:v>
                </c:pt>
                <c:pt idx="99">
                  <c:v>-4.7313797313797257E-2</c:v>
                </c:pt>
                <c:pt idx="100">
                  <c:v>-4.7008547008546953E-2</c:v>
                </c:pt>
                <c:pt idx="101">
                  <c:v>-4.1514041514041367E-2</c:v>
                </c:pt>
                <c:pt idx="102">
                  <c:v>-3.510378510378509E-2</c:v>
                </c:pt>
                <c:pt idx="103">
                  <c:v>-3.4188034188034067E-2</c:v>
                </c:pt>
                <c:pt idx="104">
                  <c:v>-3.1135531135531136E-2</c:v>
                </c:pt>
                <c:pt idx="105">
                  <c:v>-2.7777777777777679E-2</c:v>
                </c:pt>
                <c:pt idx="106">
                  <c:v>-2.6862026862026767E-2</c:v>
                </c:pt>
                <c:pt idx="107">
                  <c:v>-1.9230769230769162E-2</c:v>
                </c:pt>
                <c:pt idx="108">
                  <c:v>-1.7094017094016922E-2</c:v>
                </c:pt>
                <c:pt idx="109">
                  <c:v>-1.2210012210012056E-2</c:v>
                </c:pt>
                <c:pt idx="110">
                  <c:v>-6.4102564102563875E-3</c:v>
                </c:pt>
                <c:pt idx="111">
                  <c:v>-7.3168498168497687E-3</c:v>
                </c:pt>
                <c:pt idx="112">
                  <c:v>-5.2991452991452137E-3</c:v>
                </c:pt>
                <c:pt idx="113">
                  <c:v>-4.5787545787544515E-3</c:v>
                </c:pt>
                <c:pt idx="114">
                  <c:v>-3.3577533577532348E-3</c:v>
                </c:pt>
                <c:pt idx="115">
                  <c:v>-1.2210012210012167E-3</c:v>
                </c:pt>
                <c:pt idx="116">
                  <c:v>3.0525030525030417E-3</c:v>
                </c:pt>
                <c:pt idx="117">
                  <c:v>7.9365079365079083E-3</c:v>
                </c:pt>
                <c:pt idx="118">
                  <c:v>1.1294261294261476E-2</c:v>
                </c:pt>
                <c:pt idx="119">
                  <c:v>1.0683760683760646E-2</c:v>
                </c:pt>
                <c:pt idx="120">
                  <c:v>1.007326007326026E-2</c:v>
                </c:pt>
                <c:pt idx="121">
                  <c:v>8.8522588522590429E-3</c:v>
                </c:pt>
                <c:pt idx="122">
                  <c:v>1.2210012210012167E-3</c:v>
                </c:pt>
                <c:pt idx="123">
                  <c:v>-6.7155067155066916E-3</c:v>
                </c:pt>
                <c:pt idx="124">
                  <c:v>-1.0073260073260037E-2</c:v>
                </c:pt>
                <c:pt idx="125">
                  <c:v>-8.8522588522588208E-3</c:v>
                </c:pt>
                <c:pt idx="126">
                  <c:v>-8.8522588522588208E-3</c:v>
                </c:pt>
                <c:pt idx="127">
                  <c:v>-5.494505494505475E-3</c:v>
                </c:pt>
                <c:pt idx="128">
                  <c:v>1.2210012210012167E-3</c:v>
                </c:pt>
                <c:pt idx="129">
                  <c:v>4.8840048840048667E-3</c:v>
                </c:pt>
                <c:pt idx="130">
                  <c:v>9.7680097680097333E-3</c:v>
                </c:pt>
                <c:pt idx="131">
                  <c:v>1.7399267399267559E-2</c:v>
                </c:pt>
                <c:pt idx="132">
                  <c:v>2.258852258852273E-2</c:v>
                </c:pt>
                <c:pt idx="133">
                  <c:v>2.5641025641025772E-2</c:v>
                </c:pt>
                <c:pt idx="134">
                  <c:v>2.7167277167277293E-2</c:v>
                </c:pt>
                <c:pt idx="135">
                  <c:v>3.5103785103785201E-2</c:v>
                </c:pt>
                <c:pt idx="136">
                  <c:v>3.6019536019536114E-2</c:v>
                </c:pt>
                <c:pt idx="137">
                  <c:v>3.8156288156288243E-2</c:v>
                </c:pt>
                <c:pt idx="138">
                  <c:v>4.1514041514041589E-2</c:v>
                </c:pt>
                <c:pt idx="139">
                  <c:v>4.3650793650793718E-2</c:v>
                </c:pt>
                <c:pt idx="140">
                  <c:v>3.5103785103785201E-2</c:v>
                </c:pt>
                <c:pt idx="141">
                  <c:v>3.3272283272283376E-2</c:v>
                </c:pt>
                <c:pt idx="142">
                  <c:v>3.4188034188034289E-2</c:v>
                </c:pt>
                <c:pt idx="143">
                  <c:v>3.4493284493284593E-2</c:v>
                </c:pt>
                <c:pt idx="144">
                  <c:v>3.9987789987790068E-2</c:v>
                </c:pt>
                <c:pt idx="145">
                  <c:v>3.9682539682539764E-2</c:v>
                </c:pt>
                <c:pt idx="146">
                  <c:v>4.1208791208791284E-2</c:v>
                </c:pt>
                <c:pt idx="147">
                  <c:v>3.9682539682539764E-2</c:v>
                </c:pt>
                <c:pt idx="148">
                  <c:v>4.456654456654463E-2</c:v>
                </c:pt>
                <c:pt idx="149">
                  <c:v>4.9755799755799801E-2</c:v>
                </c:pt>
                <c:pt idx="150">
                  <c:v>4.822954822954828E-2</c:v>
                </c:pt>
                <c:pt idx="151">
                  <c:v>4.9145299145299193E-2</c:v>
                </c:pt>
                <c:pt idx="152">
                  <c:v>4.8840048840048889E-2</c:v>
                </c:pt>
                <c:pt idx="153">
                  <c:v>4.8840048840048889E-2</c:v>
                </c:pt>
                <c:pt idx="154">
                  <c:v>5.0061050061050105E-2</c:v>
                </c:pt>
                <c:pt idx="155">
                  <c:v>4.8840048840048889E-2</c:v>
                </c:pt>
                <c:pt idx="156">
                  <c:v>4.9450549450549497E-2</c:v>
                </c:pt>
                <c:pt idx="157">
                  <c:v>5.0671550671550714E-2</c:v>
                </c:pt>
                <c:pt idx="158">
                  <c:v>5.6471306471306493E-2</c:v>
                </c:pt>
                <c:pt idx="159">
                  <c:v>5.6471306471306493E-2</c:v>
                </c:pt>
                <c:pt idx="160">
                  <c:v>5.1282051282051322E-2</c:v>
                </c:pt>
                <c:pt idx="161">
                  <c:v>5.4334554334554364E-2</c:v>
                </c:pt>
                <c:pt idx="162">
                  <c:v>5.2197802197802234E-2</c:v>
                </c:pt>
                <c:pt idx="163">
                  <c:v>5.2503052503052539E-2</c:v>
                </c:pt>
                <c:pt idx="164">
                  <c:v>5.2808302808302843E-2</c:v>
                </c:pt>
                <c:pt idx="165">
                  <c:v>4.2735042735042805E-2</c:v>
                </c:pt>
                <c:pt idx="166">
                  <c:v>3.9987789987790068E-2</c:v>
                </c:pt>
                <c:pt idx="167">
                  <c:v>4.0293040293040372E-2</c:v>
                </c:pt>
                <c:pt idx="168">
                  <c:v>3.5103785103785201E-2</c:v>
                </c:pt>
                <c:pt idx="169">
                  <c:v>4.3345543345543414E-2</c:v>
                </c:pt>
                <c:pt idx="170">
                  <c:v>4.7313797313797368E-2</c:v>
                </c:pt>
                <c:pt idx="171">
                  <c:v>4.7619047619047672E-2</c:v>
                </c:pt>
                <c:pt idx="172">
                  <c:v>5.0366300366300409E-2</c:v>
                </c:pt>
                <c:pt idx="173">
                  <c:v>4.8840048840048889E-2</c:v>
                </c:pt>
                <c:pt idx="174">
                  <c:v>4.6703296703296759E-2</c:v>
                </c:pt>
                <c:pt idx="175">
                  <c:v>4.822954822954828E-2</c:v>
                </c:pt>
                <c:pt idx="176">
                  <c:v>5.0671550671550714E-2</c:v>
                </c:pt>
                <c:pt idx="177">
                  <c:v>5.2808302808302843E-2</c:v>
                </c:pt>
                <c:pt idx="178">
                  <c:v>5.6776556776556797E-2</c:v>
                </c:pt>
                <c:pt idx="179">
                  <c:v>6.3186813186813184E-2</c:v>
                </c:pt>
                <c:pt idx="180">
                  <c:v>6.0439560439560669E-2</c:v>
                </c:pt>
                <c:pt idx="181">
                  <c:v>6.0744810744810751E-2</c:v>
                </c:pt>
                <c:pt idx="182">
                  <c:v>6.2576312576312576E-2</c:v>
                </c:pt>
                <c:pt idx="183">
                  <c:v>6.6849816849817056E-2</c:v>
                </c:pt>
                <c:pt idx="184">
                  <c:v>6.5018315018315009E-2</c:v>
                </c:pt>
                <c:pt idx="185">
                  <c:v>6.4102564102564319E-2</c:v>
                </c:pt>
                <c:pt idx="186">
                  <c:v>6.2881562881563102E-2</c:v>
                </c:pt>
                <c:pt idx="187">
                  <c:v>6.0439560439560669E-2</c:v>
                </c:pt>
                <c:pt idx="188">
                  <c:v>6.3186813186813184E-2</c:v>
                </c:pt>
                <c:pt idx="189">
                  <c:v>6.3186813186813184E-2</c:v>
                </c:pt>
                <c:pt idx="190">
                  <c:v>6.1965811965811968E-2</c:v>
                </c:pt>
                <c:pt idx="191">
                  <c:v>6.0744810744810751E-2</c:v>
                </c:pt>
                <c:pt idx="192">
                  <c:v>6.0744810744810751E-2</c:v>
                </c:pt>
                <c:pt idx="193">
                  <c:v>5.7692307692307709E-2</c:v>
                </c:pt>
                <c:pt idx="194">
                  <c:v>5.0976800976801018E-2</c:v>
                </c:pt>
                <c:pt idx="195">
                  <c:v>5.0061050061050105E-2</c:v>
                </c:pt>
                <c:pt idx="196">
                  <c:v>4.7619047619047672E-2</c:v>
                </c:pt>
                <c:pt idx="197">
                  <c:v>4.9145299145299193E-2</c:v>
                </c:pt>
                <c:pt idx="198">
                  <c:v>5.1587301587301626E-2</c:v>
                </c:pt>
                <c:pt idx="199">
                  <c:v>4.7313797313797368E-2</c:v>
                </c:pt>
                <c:pt idx="200">
                  <c:v>4.3956043956044022E-2</c:v>
                </c:pt>
                <c:pt idx="201">
                  <c:v>4.1819291819291893E-2</c:v>
                </c:pt>
                <c:pt idx="202">
                  <c:v>4.8840048840048889E-2</c:v>
                </c:pt>
                <c:pt idx="203">
                  <c:v>4.7008547008547064E-2</c:v>
                </c:pt>
                <c:pt idx="204">
                  <c:v>4.3650793650793718E-2</c:v>
                </c:pt>
                <c:pt idx="205">
                  <c:v>4.0293040293040372E-2</c:v>
                </c:pt>
                <c:pt idx="206">
                  <c:v>3.9072039072039155E-2</c:v>
                </c:pt>
                <c:pt idx="207">
                  <c:v>4.090354090354098E-2</c:v>
                </c:pt>
                <c:pt idx="208">
                  <c:v>4.3650793650793718E-2</c:v>
                </c:pt>
                <c:pt idx="209">
                  <c:v>4.3040293040293109E-2</c:v>
                </c:pt>
                <c:pt idx="210">
                  <c:v>4.1208791208791284E-2</c:v>
                </c:pt>
                <c:pt idx="211">
                  <c:v>4.090354090354098E-2</c:v>
                </c:pt>
                <c:pt idx="212">
                  <c:v>4.3650793650793718E-2</c:v>
                </c:pt>
                <c:pt idx="213">
                  <c:v>4.7313797313797368E-2</c:v>
                </c:pt>
                <c:pt idx="214">
                  <c:v>4.822954822954828E-2</c:v>
                </c:pt>
                <c:pt idx="215">
                  <c:v>4.6398046398046455E-2</c:v>
                </c:pt>
                <c:pt idx="216">
                  <c:v>4.456654456654463E-2</c:v>
                </c:pt>
                <c:pt idx="217">
                  <c:v>4.5482295482295543E-2</c:v>
                </c:pt>
                <c:pt idx="218">
                  <c:v>4.7008547008547064E-2</c:v>
                </c:pt>
                <c:pt idx="219">
                  <c:v>4.7619047619047672E-2</c:v>
                </c:pt>
                <c:pt idx="220">
                  <c:v>5.0061050061050105E-2</c:v>
                </c:pt>
                <c:pt idx="221">
                  <c:v>5.0366300366300409E-2</c:v>
                </c:pt>
                <c:pt idx="222">
                  <c:v>5.3724053724053755E-2</c:v>
                </c:pt>
                <c:pt idx="223">
                  <c:v>6.1050061050061055E-2</c:v>
                </c:pt>
                <c:pt idx="224">
                  <c:v>6.1965811965811968E-2</c:v>
                </c:pt>
                <c:pt idx="225">
                  <c:v>5.9829059829059839E-2</c:v>
                </c:pt>
                <c:pt idx="226">
                  <c:v>6.3797313797313793E-2</c:v>
                </c:pt>
                <c:pt idx="227">
                  <c:v>6.3797313797313793E-2</c:v>
                </c:pt>
                <c:pt idx="228">
                  <c:v>6.8376068376068355E-2</c:v>
                </c:pt>
                <c:pt idx="229">
                  <c:v>7.1123321123321093E-2</c:v>
                </c:pt>
                <c:pt idx="230">
                  <c:v>6.9902319902319876E-2</c:v>
                </c:pt>
                <c:pt idx="231">
                  <c:v>7.2649572649572614E-2</c:v>
                </c:pt>
                <c:pt idx="232">
                  <c:v>7.2649572649572614E-2</c:v>
                </c:pt>
                <c:pt idx="233">
                  <c:v>7.8754578754578697E-2</c:v>
                </c:pt>
                <c:pt idx="234">
                  <c:v>8.2722832722832873E-2</c:v>
                </c:pt>
                <c:pt idx="235">
                  <c:v>8.6385836385836523E-2</c:v>
                </c:pt>
                <c:pt idx="236">
                  <c:v>8.760683760683774E-2</c:v>
                </c:pt>
                <c:pt idx="237">
                  <c:v>8.485958485958478E-2</c:v>
                </c:pt>
                <c:pt idx="238">
                  <c:v>8.852258852258843E-2</c:v>
                </c:pt>
                <c:pt idx="239">
                  <c:v>8.6080586080585997E-2</c:v>
                </c:pt>
                <c:pt idx="240">
                  <c:v>8.760683760683774E-2</c:v>
                </c:pt>
                <c:pt idx="241">
                  <c:v>8.7912087912088044E-2</c:v>
                </c:pt>
                <c:pt idx="242">
                  <c:v>8.9133089133089261E-2</c:v>
                </c:pt>
                <c:pt idx="243">
                  <c:v>9.2185592185592302E-2</c:v>
                </c:pt>
                <c:pt idx="244">
                  <c:v>9.3406593406593519E-2</c:v>
                </c:pt>
                <c:pt idx="245">
                  <c:v>9.5543345543345648E-2</c:v>
                </c:pt>
                <c:pt idx="246">
                  <c:v>9.0354090354090477E-2</c:v>
                </c:pt>
                <c:pt idx="247">
                  <c:v>9.0964590964591086E-2</c:v>
                </c:pt>
                <c:pt idx="248">
                  <c:v>9.4017094017094127E-2</c:v>
                </c:pt>
                <c:pt idx="249">
                  <c:v>9.3406593406593519E-2</c:v>
                </c:pt>
                <c:pt idx="250">
                  <c:v>9.126984126984139E-2</c:v>
                </c:pt>
                <c:pt idx="251">
                  <c:v>9.1880341880341998E-2</c:v>
                </c:pt>
                <c:pt idx="252">
                  <c:v>9.0659340659340781E-2</c:v>
                </c:pt>
                <c:pt idx="253">
                  <c:v>9.1880341880341998E-2</c:v>
                </c:pt>
                <c:pt idx="254">
                  <c:v>8.9438339438339565E-2</c:v>
                </c:pt>
                <c:pt idx="255">
                  <c:v>9.126984126984139E-2</c:v>
                </c:pt>
                <c:pt idx="256">
                  <c:v>9.4627594627594735E-2</c:v>
                </c:pt>
                <c:pt idx="257">
                  <c:v>9.2185592185592302E-2</c:v>
                </c:pt>
                <c:pt idx="258">
                  <c:v>9.1880341880341998E-2</c:v>
                </c:pt>
                <c:pt idx="259">
                  <c:v>8.8827838827838956E-2</c:v>
                </c:pt>
                <c:pt idx="260">
                  <c:v>9.0354090354090477E-2</c:v>
                </c:pt>
                <c:pt idx="261">
                  <c:v>8.8827838827838956E-2</c:v>
                </c:pt>
                <c:pt idx="262">
                  <c:v>8.8827838827838956E-2</c:v>
                </c:pt>
                <c:pt idx="263">
                  <c:v>9.2185592185592302E-2</c:v>
                </c:pt>
                <c:pt idx="264">
                  <c:v>9.3406593406593519E-2</c:v>
                </c:pt>
                <c:pt idx="265">
                  <c:v>9.4017094017094127E-2</c:v>
                </c:pt>
                <c:pt idx="266">
                  <c:v>9.5543345543345648E-2</c:v>
                </c:pt>
                <c:pt idx="267">
                  <c:v>9.4322344322344431E-2</c:v>
                </c:pt>
                <c:pt idx="268">
                  <c:v>9.6764346764346865E-2</c:v>
                </c:pt>
                <c:pt idx="269">
                  <c:v>9.6297313797313766E-2</c:v>
                </c:pt>
                <c:pt idx="270">
                  <c:v>9.5705128205128442E-2</c:v>
                </c:pt>
                <c:pt idx="271">
                  <c:v>9.6065323565323713E-2</c:v>
                </c:pt>
                <c:pt idx="272">
                  <c:v>9.6663614163614131E-2</c:v>
                </c:pt>
                <c:pt idx="273">
                  <c:v>9.786324786324796E-2</c:v>
                </c:pt>
                <c:pt idx="274">
                  <c:v>9.6782661782661927E-2</c:v>
                </c:pt>
                <c:pt idx="275">
                  <c:v>9.6666666666666679E-2</c:v>
                </c:pt>
                <c:pt idx="276">
                  <c:v>9.8003663003663144E-2</c:v>
                </c:pt>
                <c:pt idx="277">
                  <c:v>9.6178266178266192E-2</c:v>
                </c:pt>
                <c:pt idx="278">
                  <c:v>0.10400488400488395</c:v>
                </c:pt>
                <c:pt idx="279">
                  <c:v>0.10393467643467647</c:v>
                </c:pt>
                <c:pt idx="280">
                  <c:v>0.10375763125763138</c:v>
                </c:pt>
                <c:pt idx="281">
                  <c:v>0.10489010989010983</c:v>
                </c:pt>
                <c:pt idx="282">
                  <c:v>0.10666971916971923</c:v>
                </c:pt>
                <c:pt idx="283">
                  <c:v>0.10692307692307712</c:v>
                </c:pt>
                <c:pt idx="284">
                  <c:v>0.1084340659340659</c:v>
                </c:pt>
                <c:pt idx="285">
                  <c:v>0.10443223443223437</c:v>
                </c:pt>
                <c:pt idx="286">
                  <c:v>0.10944749694749722</c:v>
                </c:pt>
                <c:pt idx="287">
                  <c:v>0.11734126984126991</c:v>
                </c:pt>
                <c:pt idx="288">
                  <c:v>0.11728632478632472</c:v>
                </c:pt>
                <c:pt idx="289">
                  <c:v>0.1197435897435899</c:v>
                </c:pt>
                <c:pt idx="290">
                  <c:v>0.11941086691086711</c:v>
                </c:pt>
                <c:pt idx="291">
                  <c:v>0.1220787545787545</c:v>
                </c:pt>
                <c:pt idx="292">
                  <c:v>0.12037240537240534</c:v>
                </c:pt>
                <c:pt idx="293">
                  <c:v>0.12260378510378533</c:v>
                </c:pt>
                <c:pt idx="294">
                  <c:v>0.12197191697191712</c:v>
                </c:pt>
                <c:pt idx="295">
                  <c:v>0.12221916971916991</c:v>
                </c:pt>
                <c:pt idx="296">
                  <c:v>0.1227442002442003</c:v>
                </c:pt>
                <c:pt idx="297">
                  <c:v>0.12514041514041518</c:v>
                </c:pt>
                <c:pt idx="298">
                  <c:v>0.12645604395604404</c:v>
                </c:pt>
                <c:pt idx="299">
                  <c:v>0.12684676434676456</c:v>
                </c:pt>
                <c:pt idx="300">
                  <c:v>0.12544871794871781</c:v>
                </c:pt>
                <c:pt idx="301">
                  <c:v>0.1285439560439563</c:v>
                </c:pt>
                <c:pt idx="302">
                  <c:v>0.13166666666666682</c:v>
                </c:pt>
                <c:pt idx="303">
                  <c:v>0.14013736263736276</c:v>
                </c:pt>
                <c:pt idx="304">
                  <c:v>0.14626068376068391</c:v>
                </c:pt>
                <c:pt idx="305">
                  <c:v>0.15132478632478641</c:v>
                </c:pt>
                <c:pt idx="306">
                  <c:v>0.15140415140415131</c:v>
                </c:pt>
                <c:pt idx="307">
                  <c:v>0.15231990231990244</c:v>
                </c:pt>
              </c:numCache>
            </c:numRef>
          </c:val>
          <c:smooth val="0"/>
          <c:extLst>
            <c:ext xmlns:c16="http://schemas.microsoft.com/office/drawing/2014/chart" uri="{C3380CC4-5D6E-409C-BE32-E72D297353CC}">
              <c16:uniqueId val="{00000000-EB75-49B0-A021-655B266DA02F}"/>
            </c:ext>
          </c:extLst>
        </c:ser>
        <c:ser>
          <c:idx val="2"/>
          <c:order val="1"/>
          <c:tx>
            <c:strRef>
              <c:f>TrackRecord!$Q$11</c:f>
              <c:strCache>
                <c:ptCount val="1"/>
                <c:pt idx="0">
                  <c:v>Fator DI (gross up)</c:v>
                </c:pt>
              </c:strCache>
            </c:strRef>
          </c:tx>
          <c:spPr>
            <a:ln w="12700" cap="rnd">
              <a:solidFill>
                <a:srgbClr val="00B050"/>
              </a:solidFill>
              <a:round/>
            </a:ln>
            <a:effectLst/>
          </c:spPr>
          <c:marker>
            <c:symbol val="none"/>
          </c:marker>
          <c:cat>
            <c:strRef>
              <c:f>TrackRecord!$B$12:$B$319</c:f>
              <c:strCache>
                <c:ptCount val="308"/>
                <c:pt idx="0">
                  <c:v>4-out.</c:v>
                </c:pt>
                <c:pt idx="1">
                  <c:v>7-out.</c:v>
                </c:pt>
                <c:pt idx="2">
                  <c:v>8-out.</c:v>
                </c:pt>
                <c:pt idx="3">
                  <c:v>9-out.</c:v>
                </c:pt>
                <c:pt idx="4">
                  <c:v>10-out.</c:v>
                </c:pt>
                <c:pt idx="5">
                  <c:v>11-out.</c:v>
                </c:pt>
                <c:pt idx="6">
                  <c:v>14-out.</c:v>
                </c:pt>
                <c:pt idx="7">
                  <c:v>15-out.</c:v>
                </c:pt>
                <c:pt idx="8">
                  <c:v>16-out.</c:v>
                </c:pt>
                <c:pt idx="9">
                  <c:v>17-out.</c:v>
                </c:pt>
                <c:pt idx="10">
                  <c:v>18-out.</c:v>
                </c:pt>
                <c:pt idx="11">
                  <c:v>21-out.</c:v>
                </c:pt>
                <c:pt idx="12">
                  <c:v>22-out.</c:v>
                </c:pt>
                <c:pt idx="13">
                  <c:v>23-out.</c:v>
                </c:pt>
                <c:pt idx="14">
                  <c:v>24-out.</c:v>
                </c:pt>
                <c:pt idx="15">
                  <c:v>25-out.</c:v>
                </c:pt>
                <c:pt idx="16">
                  <c:v>28-out.</c:v>
                </c:pt>
                <c:pt idx="17">
                  <c:v>29-out.</c:v>
                </c:pt>
                <c:pt idx="18">
                  <c:v>30-out.</c:v>
                </c:pt>
                <c:pt idx="19">
                  <c:v>31-out.</c:v>
                </c:pt>
                <c:pt idx="20">
                  <c:v>1-nov.</c:v>
                </c:pt>
                <c:pt idx="21">
                  <c:v>4-nov.</c:v>
                </c:pt>
                <c:pt idx="22">
                  <c:v>5-nov.</c:v>
                </c:pt>
                <c:pt idx="23">
                  <c:v>6-nov.</c:v>
                </c:pt>
                <c:pt idx="24">
                  <c:v>7-nov.</c:v>
                </c:pt>
                <c:pt idx="25">
                  <c:v>8-nov.</c:v>
                </c:pt>
                <c:pt idx="26">
                  <c:v>11-nov.</c:v>
                </c:pt>
                <c:pt idx="27">
                  <c:v>12-nov.</c:v>
                </c:pt>
                <c:pt idx="28">
                  <c:v>13-nov.</c:v>
                </c:pt>
                <c:pt idx="29">
                  <c:v>14-nov.</c:v>
                </c:pt>
                <c:pt idx="30">
                  <c:v>18-nov.</c:v>
                </c:pt>
                <c:pt idx="31">
                  <c:v>19-nov.</c:v>
                </c:pt>
                <c:pt idx="32">
                  <c:v>21-nov.</c:v>
                </c:pt>
                <c:pt idx="33">
                  <c:v>22-nov.</c:v>
                </c:pt>
                <c:pt idx="34">
                  <c:v>25-nov.</c:v>
                </c:pt>
                <c:pt idx="35">
                  <c:v>26-nov.</c:v>
                </c:pt>
                <c:pt idx="36">
                  <c:v>27-nov.</c:v>
                </c:pt>
                <c:pt idx="37">
                  <c:v>28-nov.</c:v>
                </c:pt>
                <c:pt idx="38">
                  <c:v>29-nov.</c:v>
                </c:pt>
                <c:pt idx="39">
                  <c:v>2-dez.</c:v>
                </c:pt>
                <c:pt idx="40">
                  <c:v>3-dez.</c:v>
                </c:pt>
                <c:pt idx="41">
                  <c:v>4-dez.</c:v>
                </c:pt>
                <c:pt idx="42">
                  <c:v>5-dez.</c:v>
                </c:pt>
                <c:pt idx="43">
                  <c:v>6-dez.</c:v>
                </c:pt>
                <c:pt idx="44">
                  <c:v>9-dez.</c:v>
                </c:pt>
                <c:pt idx="45">
                  <c:v>10-dez.</c:v>
                </c:pt>
                <c:pt idx="46">
                  <c:v>11-dez.</c:v>
                </c:pt>
                <c:pt idx="47">
                  <c:v>12-dez.</c:v>
                </c:pt>
                <c:pt idx="48">
                  <c:v>13-dez.</c:v>
                </c:pt>
                <c:pt idx="49">
                  <c:v>16-dez.</c:v>
                </c:pt>
                <c:pt idx="50">
                  <c:v>17-dez.</c:v>
                </c:pt>
                <c:pt idx="51">
                  <c:v>18-dez.</c:v>
                </c:pt>
                <c:pt idx="52">
                  <c:v>19-dez.</c:v>
                </c:pt>
                <c:pt idx="53">
                  <c:v>20-dez.</c:v>
                </c:pt>
                <c:pt idx="54">
                  <c:v>23-dez.</c:v>
                </c:pt>
                <c:pt idx="55">
                  <c:v>26-dez.</c:v>
                </c:pt>
                <c:pt idx="56">
                  <c:v>27-dez.</c:v>
                </c:pt>
                <c:pt idx="57">
                  <c:v>30-dez.</c:v>
                </c:pt>
                <c:pt idx="58">
                  <c:v>2-jan.</c:v>
                </c:pt>
                <c:pt idx="59">
                  <c:v>3-jan.</c:v>
                </c:pt>
                <c:pt idx="60">
                  <c:v>6-jan.</c:v>
                </c:pt>
                <c:pt idx="61">
                  <c:v>7-jan.</c:v>
                </c:pt>
                <c:pt idx="62">
                  <c:v>8-jan.</c:v>
                </c:pt>
                <c:pt idx="63">
                  <c:v>9-jan.</c:v>
                </c:pt>
                <c:pt idx="64">
                  <c:v>10-jan.</c:v>
                </c:pt>
                <c:pt idx="65">
                  <c:v>13-jan.</c:v>
                </c:pt>
                <c:pt idx="66">
                  <c:v>14-jan.</c:v>
                </c:pt>
                <c:pt idx="67">
                  <c:v>15-jan.</c:v>
                </c:pt>
                <c:pt idx="68">
                  <c:v>16-jan.</c:v>
                </c:pt>
                <c:pt idx="69">
                  <c:v>17-jan.</c:v>
                </c:pt>
                <c:pt idx="70">
                  <c:v>20-jan.</c:v>
                </c:pt>
                <c:pt idx="71">
                  <c:v>21-jan.</c:v>
                </c:pt>
                <c:pt idx="72">
                  <c:v>22-jan.</c:v>
                </c:pt>
                <c:pt idx="73">
                  <c:v>23-jan.</c:v>
                </c:pt>
                <c:pt idx="74">
                  <c:v>24-jan.</c:v>
                </c:pt>
                <c:pt idx="75">
                  <c:v>27-jan.</c:v>
                </c:pt>
                <c:pt idx="76">
                  <c:v>28-jan.</c:v>
                </c:pt>
                <c:pt idx="77">
                  <c:v>29-jan.</c:v>
                </c:pt>
                <c:pt idx="78">
                  <c:v>30-jan.</c:v>
                </c:pt>
                <c:pt idx="79">
                  <c:v>31-jan.</c:v>
                </c:pt>
                <c:pt idx="80">
                  <c:v>3-fev.</c:v>
                </c:pt>
                <c:pt idx="81">
                  <c:v>4-fev.</c:v>
                </c:pt>
                <c:pt idx="82">
                  <c:v>5-fev.</c:v>
                </c:pt>
                <c:pt idx="83">
                  <c:v>6-fev.</c:v>
                </c:pt>
                <c:pt idx="84">
                  <c:v>7-fev.</c:v>
                </c:pt>
                <c:pt idx="85">
                  <c:v>10-fev.</c:v>
                </c:pt>
                <c:pt idx="86">
                  <c:v>11-fev.</c:v>
                </c:pt>
                <c:pt idx="87">
                  <c:v>12-fev.</c:v>
                </c:pt>
                <c:pt idx="88">
                  <c:v>13-fev.</c:v>
                </c:pt>
                <c:pt idx="89">
                  <c:v>14-fev.</c:v>
                </c:pt>
                <c:pt idx="90">
                  <c:v>17-fev.</c:v>
                </c:pt>
                <c:pt idx="91">
                  <c:v>18-fev.</c:v>
                </c:pt>
                <c:pt idx="92">
                  <c:v>19-fev.</c:v>
                </c:pt>
                <c:pt idx="93">
                  <c:v>20-fev.</c:v>
                </c:pt>
                <c:pt idx="94">
                  <c:v>21-fev.</c:v>
                </c:pt>
                <c:pt idx="95">
                  <c:v>24-fev.</c:v>
                </c:pt>
                <c:pt idx="96">
                  <c:v>25-fev.</c:v>
                </c:pt>
                <c:pt idx="97">
                  <c:v>26-fev.</c:v>
                </c:pt>
                <c:pt idx="98">
                  <c:v>27-fev.</c:v>
                </c:pt>
                <c:pt idx="99">
                  <c:v>28-fev.</c:v>
                </c:pt>
                <c:pt idx="100">
                  <c:v>05-mar.</c:v>
                </c:pt>
                <c:pt idx="101">
                  <c:v>06-mar.</c:v>
                </c:pt>
                <c:pt idx="102">
                  <c:v>07-mar.</c:v>
                </c:pt>
                <c:pt idx="103">
                  <c:v>10-mar.</c:v>
                </c:pt>
                <c:pt idx="104">
                  <c:v>11-mar.</c:v>
                </c:pt>
                <c:pt idx="105">
                  <c:v>12-mar.</c:v>
                </c:pt>
                <c:pt idx="106">
                  <c:v>13-mar.</c:v>
                </c:pt>
                <c:pt idx="107">
                  <c:v>14-mar.</c:v>
                </c:pt>
                <c:pt idx="108">
                  <c:v>17-mar.</c:v>
                </c:pt>
                <c:pt idx="109">
                  <c:v>18-mar.</c:v>
                </c:pt>
                <c:pt idx="110">
                  <c:v>19-mar.</c:v>
                </c:pt>
                <c:pt idx="111">
                  <c:v>20-mar.</c:v>
                </c:pt>
                <c:pt idx="112">
                  <c:v>21-mar.</c:v>
                </c:pt>
                <c:pt idx="113">
                  <c:v>24-mar. </c:v>
                </c:pt>
                <c:pt idx="114">
                  <c:v>25-mar.</c:v>
                </c:pt>
                <c:pt idx="115">
                  <c:v>26-mar.</c:v>
                </c:pt>
                <c:pt idx="116">
                  <c:v>27-mar.</c:v>
                </c:pt>
                <c:pt idx="117">
                  <c:v>28-mar.</c:v>
                </c:pt>
                <c:pt idx="118">
                  <c:v>31-mar.</c:v>
                </c:pt>
                <c:pt idx="119">
                  <c:v>01-abr.</c:v>
                </c:pt>
                <c:pt idx="120">
                  <c:v>02-abr.</c:v>
                </c:pt>
                <c:pt idx="121">
                  <c:v>03-abr.</c:v>
                </c:pt>
                <c:pt idx="122">
                  <c:v>04-abr.</c:v>
                </c:pt>
                <c:pt idx="123">
                  <c:v>07-abr.</c:v>
                </c:pt>
                <c:pt idx="124">
                  <c:v>08-abr.</c:v>
                </c:pt>
                <c:pt idx="125">
                  <c:v>09-abr.</c:v>
                </c:pt>
                <c:pt idx="126">
                  <c:v>10-abr.</c:v>
                </c:pt>
                <c:pt idx="127">
                  <c:v>11-abr.</c:v>
                </c:pt>
                <c:pt idx="128">
                  <c:v>14-abr.</c:v>
                </c:pt>
                <c:pt idx="129">
                  <c:v>15-abr.</c:v>
                </c:pt>
                <c:pt idx="130">
                  <c:v>16-abr.</c:v>
                </c:pt>
                <c:pt idx="131">
                  <c:v>17-abr.</c:v>
                </c:pt>
                <c:pt idx="132">
                  <c:v>22-abr.</c:v>
                </c:pt>
                <c:pt idx="133">
                  <c:v>23-abr.</c:v>
                </c:pt>
                <c:pt idx="134">
                  <c:v>24-abr.</c:v>
                </c:pt>
                <c:pt idx="135">
                  <c:v>25-abr.</c:v>
                </c:pt>
                <c:pt idx="136">
                  <c:v>28-abr.</c:v>
                </c:pt>
                <c:pt idx="137">
                  <c:v>29-abr.</c:v>
                </c:pt>
                <c:pt idx="138">
                  <c:v>30-abr.</c:v>
                </c:pt>
                <c:pt idx="139">
                  <c:v>02-mai.</c:v>
                </c:pt>
                <c:pt idx="140">
                  <c:v>05-mai.</c:v>
                </c:pt>
                <c:pt idx="141">
                  <c:v>06-mai.</c:v>
                </c:pt>
                <c:pt idx="142">
                  <c:v>07-mai.</c:v>
                </c:pt>
                <c:pt idx="143">
                  <c:v>08-mai.</c:v>
                </c:pt>
                <c:pt idx="144">
                  <c:v>09-mai.</c:v>
                </c:pt>
                <c:pt idx="145">
                  <c:v>12-mai.</c:v>
                </c:pt>
                <c:pt idx="146">
                  <c:v>13-mai.</c:v>
                </c:pt>
                <c:pt idx="147">
                  <c:v>14-mai.</c:v>
                </c:pt>
                <c:pt idx="148">
                  <c:v>15-mai.</c:v>
                </c:pt>
                <c:pt idx="149">
                  <c:v>16-mai.</c:v>
                </c:pt>
                <c:pt idx="150">
                  <c:v>19-mai.</c:v>
                </c:pt>
                <c:pt idx="151">
                  <c:v>20-mai.</c:v>
                </c:pt>
                <c:pt idx="152">
                  <c:v>21-mai.</c:v>
                </c:pt>
                <c:pt idx="153">
                  <c:v>22-mai.</c:v>
                </c:pt>
                <c:pt idx="154">
                  <c:v>23-mai.</c:v>
                </c:pt>
                <c:pt idx="155">
                  <c:v>26-mai.</c:v>
                </c:pt>
                <c:pt idx="156">
                  <c:v>27-mai.</c:v>
                </c:pt>
                <c:pt idx="157">
                  <c:v>28-mai.</c:v>
                </c:pt>
                <c:pt idx="158">
                  <c:v>29-mai.</c:v>
                </c:pt>
                <c:pt idx="159">
                  <c:v>30-mai.</c:v>
                </c:pt>
                <c:pt idx="160">
                  <c:v>02-jun.</c:v>
                </c:pt>
                <c:pt idx="161">
                  <c:v>03-jun.</c:v>
                </c:pt>
                <c:pt idx="162">
                  <c:v>04-jun.</c:v>
                </c:pt>
                <c:pt idx="163">
                  <c:v>05-jun.</c:v>
                </c:pt>
                <c:pt idx="164">
                  <c:v>06-jun.</c:v>
                </c:pt>
                <c:pt idx="165">
                  <c:v>09-jun.</c:v>
                </c:pt>
                <c:pt idx="166">
                  <c:v>10-jun.</c:v>
                </c:pt>
                <c:pt idx="167">
                  <c:v>11-jun.</c:v>
                </c:pt>
                <c:pt idx="168">
                  <c:v>12-jun.</c:v>
                </c:pt>
                <c:pt idx="169">
                  <c:v>13-jun.</c:v>
                </c:pt>
                <c:pt idx="170">
                  <c:v>16-jun.</c:v>
                </c:pt>
                <c:pt idx="171">
                  <c:v>17-jun.</c:v>
                </c:pt>
                <c:pt idx="172">
                  <c:v>18-jun.</c:v>
                </c:pt>
                <c:pt idx="173">
                  <c:v>20-jun.</c:v>
                </c:pt>
                <c:pt idx="174">
                  <c:v>23-jun.</c:v>
                </c:pt>
                <c:pt idx="175">
                  <c:v>24-jun.</c:v>
                </c:pt>
                <c:pt idx="176">
                  <c:v>25-jun.</c:v>
                </c:pt>
                <c:pt idx="177">
                  <c:v>26-jun.</c:v>
                </c:pt>
                <c:pt idx="178">
                  <c:v>27-jun.</c:v>
                </c:pt>
                <c:pt idx="179">
                  <c:v>30/jun.</c:v>
                </c:pt>
                <c:pt idx="180">
                  <c:v>01/jul.</c:v>
                </c:pt>
                <c:pt idx="181">
                  <c:v>02/jul.</c:v>
                </c:pt>
                <c:pt idx="182">
                  <c:v>03/jul.</c:v>
                </c:pt>
                <c:pt idx="183">
                  <c:v>04/jul.</c:v>
                </c:pt>
                <c:pt idx="184">
                  <c:v>07/jul.</c:v>
                </c:pt>
                <c:pt idx="185">
                  <c:v>08/jul.</c:v>
                </c:pt>
                <c:pt idx="186">
                  <c:v>09/jul.</c:v>
                </c:pt>
                <c:pt idx="187">
                  <c:v>10/jul.</c:v>
                </c:pt>
                <c:pt idx="188">
                  <c:v>11/jul.</c:v>
                </c:pt>
                <c:pt idx="189">
                  <c:v>14/jul.</c:v>
                </c:pt>
                <c:pt idx="190">
                  <c:v>15/jul.</c:v>
                </c:pt>
                <c:pt idx="191">
                  <c:v>16/jul.</c:v>
                </c:pt>
                <c:pt idx="192">
                  <c:v>17/jul.</c:v>
                </c:pt>
                <c:pt idx="193">
                  <c:v>18/jul.</c:v>
                </c:pt>
                <c:pt idx="194">
                  <c:v>21/jul.</c:v>
                </c:pt>
                <c:pt idx="195">
                  <c:v>22/jul.</c:v>
                </c:pt>
                <c:pt idx="196">
                  <c:v>23/jul.</c:v>
                </c:pt>
                <c:pt idx="197">
                  <c:v>24/jul.</c:v>
                </c:pt>
                <c:pt idx="198">
                  <c:v>25/jul.</c:v>
                </c:pt>
                <c:pt idx="199">
                  <c:v>28/jul.</c:v>
                </c:pt>
                <c:pt idx="200">
                  <c:v>29/jul.</c:v>
                </c:pt>
                <c:pt idx="201">
                  <c:v>30/jul.</c:v>
                </c:pt>
                <c:pt idx="202">
                  <c:v>31/jul.</c:v>
                </c:pt>
                <c:pt idx="203">
                  <c:v>01/ago.</c:v>
                </c:pt>
                <c:pt idx="204">
                  <c:v>04/ago.</c:v>
                </c:pt>
                <c:pt idx="205">
                  <c:v>05/ago.</c:v>
                </c:pt>
                <c:pt idx="206">
                  <c:v>06/ago.</c:v>
                </c:pt>
                <c:pt idx="207">
                  <c:v>07/ago.</c:v>
                </c:pt>
                <c:pt idx="208">
                  <c:v>08/ago.</c:v>
                </c:pt>
                <c:pt idx="209">
                  <c:v>11/ago.</c:v>
                </c:pt>
                <c:pt idx="210">
                  <c:v>12/ago.</c:v>
                </c:pt>
                <c:pt idx="211">
                  <c:v>13/ago.</c:v>
                </c:pt>
                <c:pt idx="212">
                  <c:v>14/ago.</c:v>
                </c:pt>
                <c:pt idx="213">
                  <c:v>15/ago.</c:v>
                </c:pt>
                <c:pt idx="214">
                  <c:v>18/ago.</c:v>
                </c:pt>
                <c:pt idx="215">
                  <c:v>19/ago.</c:v>
                </c:pt>
                <c:pt idx="216">
                  <c:v>20/ago.</c:v>
                </c:pt>
                <c:pt idx="217">
                  <c:v>21/ago.</c:v>
                </c:pt>
                <c:pt idx="218">
                  <c:v>22/ago.</c:v>
                </c:pt>
                <c:pt idx="219">
                  <c:v>25/ago.</c:v>
                </c:pt>
                <c:pt idx="220">
                  <c:v>26/ago.</c:v>
                </c:pt>
                <c:pt idx="221">
                  <c:v>27/ago.</c:v>
                </c:pt>
                <c:pt idx="222">
                  <c:v>28/ago.</c:v>
                </c:pt>
                <c:pt idx="223">
                  <c:v>29/ago.</c:v>
                </c:pt>
                <c:pt idx="224">
                  <c:v>01/set.</c:v>
                </c:pt>
                <c:pt idx="225">
                  <c:v>02/set.</c:v>
                </c:pt>
                <c:pt idx="226">
                  <c:v>03/set.</c:v>
                </c:pt>
                <c:pt idx="227">
                  <c:v>04/set.</c:v>
                </c:pt>
                <c:pt idx="228">
                  <c:v>05/set.</c:v>
                </c:pt>
                <c:pt idx="229">
                  <c:v>08/set.</c:v>
                </c:pt>
                <c:pt idx="230">
                  <c:v>09/set.</c:v>
                </c:pt>
                <c:pt idx="231">
                  <c:v>10/set.</c:v>
                </c:pt>
                <c:pt idx="232">
                  <c:v>11/set.</c:v>
                </c:pt>
                <c:pt idx="233">
                  <c:v>12/set.</c:v>
                </c:pt>
                <c:pt idx="234">
                  <c:v>15/set.</c:v>
                </c:pt>
                <c:pt idx="235">
                  <c:v>16/set.</c:v>
                </c:pt>
                <c:pt idx="236">
                  <c:v>17/set.</c:v>
                </c:pt>
                <c:pt idx="237">
                  <c:v>18/set.</c:v>
                </c:pt>
                <c:pt idx="238">
                  <c:v>19/set.</c:v>
                </c:pt>
                <c:pt idx="239">
                  <c:v>22/set.</c:v>
                </c:pt>
                <c:pt idx="240">
                  <c:v>23/set.</c:v>
                </c:pt>
                <c:pt idx="241">
                  <c:v>24/set.</c:v>
                </c:pt>
                <c:pt idx="242">
                  <c:v>25/set.</c:v>
                </c:pt>
                <c:pt idx="243">
                  <c:v>26/set.</c:v>
                </c:pt>
                <c:pt idx="244">
                  <c:v>29/set.</c:v>
                </c:pt>
                <c:pt idx="245">
                  <c:v>30/set.</c:v>
                </c:pt>
                <c:pt idx="246">
                  <c:v>01/out.</c:v>
                </c:pt>
                <c:pt idx="247">
                  <c:v>02/out.</c:v>
                </c:pt>
                <c:pt idx="248">
                  <c:v>03/out.</c:v>
                </c:pt>
                <c:pt idx="249">
                  <c:v>06/out.</c:v>
                </c:pt>
                <c:pt idx="250">
                  <c:v>07/out.</c:v>
                </c:pt>
                <c:pt idx="251">
                  <c:v>08/out.</c:v>
                </c:pt>
                <c:pt idx="252">
                  <c:v>09/out.</c:v>
                </c:pt>
                <c:pt idx="253">
                  <c:v>10/out.</c:v>
                </c:pt>
                <c:pt idx="254">
                  <c:v>13/out.</c:v>
                </c:pt>
                <c:pt idx="255">
                  <c:v>14/out.</c:v>
                </c:pt>
                <c:pt idx="256">
                  <c:v>15/out.</c:v>
                </c:pt>
                <c:pt idx="257">
                  <c:v>16/out.</c:v>
                </c:pt>
                <c:pt idx="258">
                  <c:v>17/out.</c:v>
                </c:pt>
                <c:pt idx="259">
                  <c:v>20/out.</c:v>
                </c:pt>
                <c:pt idx="260">
                  <c:v>21/out.</c:v>
                </c:pt>
                <c:pt idx="261">
                  <c:v>22/out.</c:v>
                </c:pt>
                <c:pt idx="262">
                  <c:v>23/out.</c:v>
                </c:pt>
                <c:pt idx="263">
                  <c:v>24/out.</c:v>
                </c:pt>
                <c:pt idx="264">
                  <c:v>27/out.</c:v>
                </c:pt>
                <c:pt idx="265">
                  <c:v>28/out.</c:v>
                </c:pt>
                <c:pt idx="266">
                  <c:v>29/out.</c:v>
                </c:pt>
                <c:pt idx="267">
                  <c:v>30/out.</c:v>
                </c:pt>
                <c:pt idx="268">
                  <c:v>31/out.</c:v>
                </c:pt>
                <c:pt idx="269">
                  <c:v>03/nov.</c:v>
                </c:pt>
                <c:pt idx="270">
                  <c:v>04/nov.</c:v>
                </c:pt>
                <c:pt idx="271">
                  <c:v>05/nov.</c:v>
                </c:pt>
                <c:pt idx="272">
                  <c:v>06/nov.</c:v>
                </c:pt>
                <c:pt idx="273">
                  <c:v>07/nov.</c:v>
                </c:pt>
                <c:pt idx="274">
                  <c:v>10/nov.</c:v>
                </c:pt>
                <c:pt idx="275">
                  <c:v>11/nov.</c:v>
                </c:pt>
                <c:pt idx="276">
                  <c:v>12/nov.</c:v>
                </c:pt>
                <c:pt idx="277">
                  <c:v>13/nov.</c:v>
                </c:pt>
                <c:pt idx="278">
                  <c:v>14/nov.</c:v>
                </c:pt>
                <c:pt idx="279">
                  <c:v>17/nov.</c:v>
                </c:pt>
                <c:pt idx="280">
                  <c:v>18/nov.</c:v>
                </c:pt>
                <c:pt idx="281">
                  <c:v>19/nov.</c:v>
                </c:pt>
                <c:pt idx="282">
                  <c:v>21/nov.</c:v>
                </c:pt>
                <c:pt idx="283">
                  <c:v>24/nov.</c:v>
                </c:pt>
                <c:pt idx="284">
                  <c:v>25/nov.</c:v>
                </c:pt>
                <c:pt idx="285">
                  <c:v>26/nov.</c:v>
                </c:pt>
                <c:pt idx="286">
                  <c:v>27/nov.</c:v>
                </c:pt>
                <c:pt idx="287">
                  <c:v>28/nov.</c:v>
                </c:pt>
                <c:pt idx="288">
                  <c:v>01/dez.</c:v>
                </c:pt>
                <c:pt idx="289">
                  <c:v>02/dez.</c:v>
                </c:pt>
                <c:pt idx="290">
                  <c:v>03/dez.</c:v>
                </c:pt>
                <c:pt idx="291">
                  <c:v>04/dez.</c:v>
                </c:pt>
                <c:pt idx="292">
                  <c:v>05/dez.</c:v>
                </c:pt>
                <c:pt idx="293">
                  <c:v>08/dez.</c:v>
                </c:pt>
                <c:pt idx="294">
                  <c:v>09/dez.</c:v>
                </c:pt>
                <c:pt idx="295">
                  <c:v>10/dez.</c:v>
                </c:pt>
                <c:pt idx="296">
                  <c:v>11/dez.</c:v>
                </c:pt>
                <c:pt idx="297">
                  <c:v>12/dez.</c:v>
                </c:pt>
                <c:pt idx="298">
                  <c:v>15/dez.</c:v>
                </c:pt>
                <c:pt idx="299">
                  <c:v>16/dez.</c:v>
                </c:pt>
                <c:pt idx="300">
                  <c:v>17/dez.</c:v>
                </c:pt>
                <c:pt idx="301">
                  <c:v>18/dez.</c:v>
                </c:pt>
                <c:pt idx="302">
                  <c:v>19/dez.</c:v>
                </c:pt>
                <c:pt idx="303">
                  <c:v>22/dez.</c:v>
                </c:pt>
                <c:pt idx="304">
                  <c:v>23/dez.</c:v>
                </c:pt>
                <c:pt idx="305">
                  <c:v>26/dez.</c:v>
                </c:pt>
                <c:pt idx="306">
                  <c:v>29/dez.</c:v>
                </c:pt>
                <c:pt idx="307">
                  <c:v>30/dez.</c:v>
                </c:pt>
              </c:strCache>
            </c:strRef>
          </c:cat>
          <c:val>
            <c:numRef>
              <c:f>TrackRecord!$Q$12:$Q$319</c:f>
              <c:numCache>
                <c:formatCode>0.00%</c:formatCode>
                <c:ptCount val="308"/>
                <c:pt idx="1">
                  <c:v>3.4170000000001145E-4</c:v>
                </c:pt>
                <c:pt idx="2">
                  <c:v>6.8353736339998861E-4</c:v>
                </c:pt>
                <c:pt idx="3">
                  <c:v>1.0255121454201155E-3</c:v>
                </c:pt>
                <c:pt idx="4">
                  <c:v>1.3676244013026584E-3</c:v>
                </c:pt>
                <c:pt idx="5">
                  <c:v>1.709874186311966E-3</c:v>
                </c:pt>
                <c:pt idx="6">
                  <c:v>2.0522615557348467E-3</c:v>
                </c:pt>
                <c:pt idx="7">
                  <c:v>2.3947865648801911E-3</c:v>
                </c:pt>
                <c:pt idx="8">
                  <c:v>2.7374492690793507E-3</c:v>
                </c:pt>
                <c:pt idx="9">
                  <c:v>3.0802497236855687E-3</c:v>
                </c:pt>
                <c:pt idx="10">
                  <c:v>3.4231879840745491E-3</c:v>
                </c:pt>
                <c:pt idx="11">
                  <c:v>3.7662641056440791E-3</c:v>
                </c:pt>
                <c:pt idx="12">
                  <c:v>4.1094781438145928E-3</c:v>
                </c:pt>
                <c:pt idx="13">
                  <c:v>4.4528301540284199E-3</c:v>
                </c:pt>
                <c:pt idx="14">
                  <c:v>4.7963201917503471E-3</c:v>
                </c:pt>
                <c:pt idx="15">
                  <c:v>5.1399483124674348E-3</c:v>
                </c:pt>
                <c:pt idx="16">
                  <c:v>5.4837145716890136E-3</c:v>
                </c:pt>
                <c:pt idx="17">
                  <c:v>5.8276190249468727E-3</c:v>
                </c:pt>
                <c:pt idx="18">
                  <c:v>6.1716617277948862E-3</c:v>
                </c:pt>
                <c:pt idx="19">
                  <c:v>6.5158427358093848E-3</c:v>
                </c:pt>
                <c:pt idx="20">
                  <c:v>6.8601621045891624E-3</c:v>
                </c:pt>
                <c:pt idx="21">
                  <c:v>7.2046198897552814E-3</c:v>
                </c:pt>
                <c:pt idx="22">
                  <c:v>7.5492161469508873E-3</c:v>
                </c:pt>
                <c:pt idx="23">
                  <c:v>7.8939509318419632E-3</c:v>
                </c:pt>
                <c:pt idx="24">
                  <c:v>8.254266391233377E-3</c:v>
                </c:pt>
                <c:pt idx="25">
                  <c:v>8.6147331831177842E-3</c:v>
                </c:pt>
                <c:pt idx="26">
                  <c:v>8.9753513710547506E-3</c:v>
                </c:pt>
                <c:pt idx="27">
                  <c:v>9.3361210186306502E-3</c:v>
                </c:pt>
                <c:pt idx="28">
                  <c:v>9.6970421894584605E-3</c:v>
                </c:pt>
                <c:pt idx="29">
                  <c:v>1.0058114947178154E-2</c:v>
                </c:pt>
                <c:pt idx="30">
                  <c:v>1.0419339355456124E-2</c:v>
                </c:pt>
                <c:pt idx="31">
                  <c:v>1.0780715477985569E-2</c:v>
                </c:pt>
                <c:pt idx="32">
                  <c:v>1.1142243378486483E-2</c:v>
                </c:pt>
                <c:pt idx="33">
                  <c:v>1.1503923120705473E-2</c:v>
                </c:pt>
                <c:pt idx="34">
                  <c:v>1.1865754768416325E-2</c:v>
                </c:pt>
                <c:pt idx="35">
                  <c:v>1.2227738385419061E-2</c:v>
                </c:pt>
                <c:pt idx="36">
                  <c:v>1.2589874035541071E-2</c:v>
                </c:pt>
                <c:pt idx="37">
                  <c:v>1.2952161782636163E-2</c:v>
                </c:pt>
                <c:pt idx="38">
                  <c:v>1.3314601690584947E-2</c:v>
                </c:pt>
                <c:pt idx="39">
                  <c:v>1.367719382329503E-2</c:v>
                </c:pt>
                <c:pt idx="40">
                  <c:v>1.4039938244700812E-2</c:v>
                </c:pt>
                <c:pt idx="41">
                  <c:v>1.4402835018763683E-2</c:v>
                </c:pt>
                <c:pt idx="42">
                  <c:v>1.4765884209471647E-2</c:v>
                </c:pt>
                <c:pt idx="43">
                  <c:v>1.5129085880839699E-2</c:v>
                </c:pt>
                <c:pt idx="44">
                  <c:v>1.549244009690982E-2</c:v>
                </c:pt>
                <c:pt idx="45">
                  <c:v>1.5855946921750606E-2</c:v>
                </c:pt>
                <c:pt idx="46">
                  <c:v>1.6219606419457831E-2</c:v>
                </c:pt>
                <c:pt idx="47">
                  <c:v>1.6613736340378691E-2</c:v>
                </c:pt>
                <c:pt idx="48">
                  <c:v>1.7008045590413554E-2</c:v>
                </c:pt>
                <c:pt idx="49">
                  <c:v>1.7402534251157221E-2</c:v>
                </c:pt>
                <c:pt idx="50">
                  <c:v>1.7797202404241663E-2</c:v>
                </c:pt>
                <c:pt idx="51">
                  <c:v>1.8192050131335669E-2</c:v>
                </c:pt>
                <c:pt idx="52">
                  <c:v>1.8587077514145577E-2</c:v>
                </c:pt>
                <c:pt idx="53">
                  <c:v>1.8982284634414537E-2</c:v>
                </c:pt>
                <c:pt idx="54">
                  <c:v>1.9377671573923248E-2</c:v>
                </c:pt>
                <c:pt idx="55">
                  <c:v>1.9773238414489414E-2</c:v>
                </c:pt>
                <c:pt idx="56">
                  <c:v>2.0168985237968094E-2</c:v>
                </c:pt>
                <c:pt idx="57">
                  <c:v>2.0564912126251545E-2</c:v>
                </c:pt>
                <c:pt idx="58">
                  <c:v>2.0961019161268999E-2</c:v>
                </c:pt>
                <c:pt idx="59">
                  <c:v>2.1357306424987454E-2</c:v>
                </c:pt>
                <c:pt idx="60">
                  <c:v>2.1753773999410884E-2</c:v>
                </c:pt>
                <c:pt idx="61">
                  <c:v>2.2150421966580645E-2</c:v>
                </c:pt>
                <c:pt idx="62">
                  <c:v>2.254725040857546E-2</c:v>
                </c:pt>
                <c:pt idx="63">
                  <c:v>2.2944259407511412E-2</c:v>
                </c:pt>
                <c:pt idx="64">
                  <c:v>2.3341449045541973E-2</c:v>
                </c:pt>
                <c:pt idx="65">
                  <c:v>2.3738819404857781E-2</c:v>
                </c:pt>
                <c:pt idx="66">
                  <c:v>2.4136370567687037E-2</c:v>
                </c:pt>
                <c:pt idx="67">
                  <c:v>2.4534102616295506E-2</c:v>
                </c:pt>
                <c:pt idx="68">
                  <c:v>2.4932015632985936E-2</c:v>
                </c:pt>
                <c:pt idx="69">
                  <c:v>2.5330109700099024E-2</c:v>
                </c:pt>
                <c:pt idx="70">
                  <c:v>2.5728384900012634E-2</c:v>
                </c:pt>
                <c:pt idx="71">
                  <c:v>2.6126841315142202E-2</c:v>
                </c:pt>
                <c:pt idx="72">
                  <c:v>2.6525479027940713E-2</c:v>
                </c:pt>
                <c:pt idx="73">
                  <c:v>2.6924298120898527E-2</c:v>
                </c:pt>
                <c:pt idx="74">
                  <c:v>2.732329867654356E-2</c:v>
                </c:pt>
                <c:pt idx="75">
                  <c:v>2.7722480777441483E-2</c:v>
                </c:pt>
                <c:pt idx="76">
                  <c:v>2.8121844506195325E-2</c:v>
                </c:pt>
                <c:pt idx="77">
                  <c:v>2.8521389945445685E-2</c:v>
                </c:pt>
                <c:pt idx="78">
                  <c:v>2.8955275846554749E-2</c:v>
                </c:pt>
                <c:pt idx="79">
                  <c:v>2.9389376036100343E-2</c:v>
                </c:pt>
                <c:pt idx="80">
                  <c:v>2.9823690619915744E-2</c:v>
                </c:pt>
                <c:pt idx="81">
                  <c:v>3.0258219703886501E-2</c:v>
                </c:pt>
                <c:pt idx="82">
                  <c:v>3.0692963393950268E-2</c:v>
                </c:pt>
                <c:pt idx="83">
                  <c:v>3.1127921796097156E-2</c:v>
                </c:pt>
                <c:pt idx="84">
                  <c:v>3.1563095016369565E-2</c:v>
                </c:pt>
                <c:pt idx="85">
                  <c:v>3.1998483160862366E-2</c:v>
                </c:pt>
                <c:pt idx="86">
                  <c:v>3.2434086335722888E-2</c:v>
                </c:pt>
                <c:pt idx="87">
                  <c:v>3.2869904647150561E-2</c:v>
                </c:pt>
                <c:pt idx="88">
                  <c:v>3.3305938201397468E-2</c:v>
                </c:pt>
                <c:pt idx="89">
                  <c:v>3.3742187104768159E-2</c:v>
                </c:pt>
                <c:pt idx="90">
                  <c:v>3.4178651463619855E-2</c:v>
                </c:pt>
                <c:pt idx="91">
                  <c:v>3.4615331384362048E-2</c:v>
                </c:pt>
                <c:pt idx="92">
                  <c:v>3.5052226973456876E-2</c:v>
                </c:pt>
                <c:pt idx="93">
                  <c:v>3.548933833741897E-2</c:v>
                </c:pt>
                <c:pt idx="94">
                  <c:v>3.5926665582815799E-2</c:v>
                </c:pt>
                <c:pt idx="95">
                  <c:v>3.6364208816267098E-2</c:v>
                </c:pt>
                <c:pt idx="96">
                  <c:v>3.6801968144445647E-2</c:v>
                </c:pt>
                <c:pt idx="97">
                  <c:v>3.7239943674076716E-2</c:v>
                </c:pt>
                <c:pt idx="98">
                  <c:v>3.7678135511938382E-2</c:v>
                </c:pt>
                <c:pt idx="99">
                  <c:v>3.8116543764861219E-2</c:v>
                </c:pt>
                <c:pt idx="100">
                  <c:v>3.8555168539728832E-2</c:v>
                </c:pt>
                <c:pt idx="101">
                  <c:v>3.899400994347748E-2</c:v>
                </c:pt>
                <c:pt idx="102">
                  <c:v>3.9433068083096455E-2</c:v>
                </c:pt>
                <c:pt idx="103">
                  <c:v>3.9872343065627522E-2</c:v>
                </c:pt>
                <c:pt idx="104">
                  <c:v>4.0311834998165486E-2</c:v>
                </c:pt>
                <c:pt idx="105">
                  <c:v>4.0751543987857984E-2</c:v>
                </c:pt>
                <c:pt idx="106">
                  <c:v>4.1191470141905703E-2</c:v>
                </c:pt>
                <c:pt idx="107">
                  <c:v>4.1631613567562363E-2</c:v>
                </c:pt>
                <c:pt idx="108">
                  <c:v>4.2071974372134335E-2</c:v>
                </c:pt>
                <c:pt idx="109">
                  <c:v>4.2512552662981214E-2</c:v>
                </c:pt>
                <c:pt idx="110">
                  <c:v>4.2953348547515459E-2</c:v>
                </c:pt>
                <c:pt idx="111">
                  <c:v>4.3422425249158625E-2</c:v>
                </c:pt>
                <c:pt idx="112">
                  <c:v>4.3891748361157334E-2</c:v>
                </c:pt>
                <c:pt idx="113">
                  <c:v>4.4361318012953142E-2</c:v>
                </c:pt>
                <c:pt idx="114">
                  <c:v>4.4831134334055743E-2</c:v>
                </c:pt>
                <c:pt idx="115">
                  <c:v>4.530119745404277E-2</c:v>
                </c:pt>
                <c:pt idx="116">
                  <c:v>4.5771507502560003E-2</c:v>
                </c:pt>
                <c:pt idx="117">
                  <c:v>4.6242064609321155E-2</c:v>
                </c:pt>
                <c:pt idx="118">
                  <c:v>4.6712868904108452E-2</c:v>
                </c:pt>
                <c:pt idx="119">
                  <c:v>4.7183920516771879E-2</c:v>
                </c:pt>
                <c:pt idx="120">
                  <c:v>4.7655219577229943E-2</c:v>
                </c:pt>
                <c:pt idx="121">
                  <c:v>4.8126766215469276E-2</c:v>
                </c:pt>
                <c:pt idx="122">
                  <c:v>4.8598560561544636E-2</c:v>
                </c:pt>
                <c:pt idx="123">
                  <c:v>4.9070602745579492E-2</c:v>
                </c:pt>
                <c:pt idx="124">
                  <c:v>4.9542892897765263E-2</c:v>
                </c:pt>
                <c:pt idx="125">
                  <c:v>5.0015431148361877E-2</c:v>
                </c:pt>
                <c:pt idx="126">
                  <c:v>5.0488217627697951E-2</c:v>
                </c:pt>
                <c:pt idx="127">
                  <c:v>5.0961252466170059E-2</c:v>
                </c:pt>
                <c:pt idx="128">
                  <c:v>5.1434535794243848E-2</c:v>
                </c:pt>
                <c:pt idx="129">
                  <c:v>5.1908067742453108E-2</c:v>
                </c:pt>
                <c:pt idx="130">
                  <c:v>5.2381848441400321E-2</c:v>
                </c:pt>
                <c:pt idx="131">
                  <c:v>5.2855878021756487E-2</c:v>
                </c:pt>
                <c:pt idx="132">
                  <c:v>5.3330156614261291E-2</c:v>
                </c:pt>
                <c:pt idx="133">
                  <c:v>5.3804684349723332E-2</c:v>
                </c:pt>
                <c:pt idx="134">
                  <c:v>5.427946135901951E-2</c:v>
                </c:pt>
                <c:pt idx="135">
                  <c:v>5.4754487773095814E-2</c:v>
                </c:pt>
                <c:pt idx="136">
                  <c:v>5.5229763722966937E-2</c:v>
                </c:pt>
                <c:pt idx="137">
                  <c:v>5.5705289339716267E-2</c:v>
                </c:pt>
                <c:pt idx="138">
                  <c:v>5.618106475449608E-2</c:v>
                </c:pt>
                <c:pt idx="139">
                  <c:v>5.6657090729622203E-2</c:v>
                </c:pt>
                <c:pt idx="140">
                  <c:v>5.7133366765953451E-2</c:v>
                </c:pt>
                <c:pt idx="141">
                  <c:v>5.7609892994849331E-2</c:v>
                </c:pt>
                <c:pt idx="142">
                  <c:v>5.8086669547738431E-2</c:v>
                </c:pt>
                <c:pt idx="143">
                  <c:v>5.8579451859835208E-2</c:v>
                </c:pt>
                <c:pt idx="144">
                  <c:v>5.9072501585181521E-2</c:v>
                </c:pt>
                <c:pt idx="145">
                  <c:v>5.9565818868891736E-2</c:v>
                </c:pt>
                <c:pt idx="146">
                  <c:v>6.0059403856159099E-2</c:v>
                </c:pt>
                <c:pt idx="147">
                  <c:v>6.0553256692255739E-2</c:v>
                </c:pt>
                <c:pt idx="148">
                  <c:v>6.1047377522532316E-2</c:v>
                </c:pt>
                <c:pt idx="149">
                  <c:v>6.1541766492418756E-2</c:v>
                </c:pt>
                <c:pt idx="150">
                  <c:v>6.2036423747423498E-2</c:v>
                </c:pt>
                <c:pt idx="151">
                  <c:v>6.2531349433134237E-2</c:v>
                </c:pt>
                <c:pt idx="152">
                  <c:v>6.3026543695217596E-2</c:v>
                </c:pt>
                <c:pt idx="153">
                  <c:v>6.3522006679419235E-2</c:v>
                </c:pt>
                <c:pt idx="154">
                  <c:v>6.4017738531563936E-2</c:v>
                </c:pt>
                <c:pt idx="155">
                  <c:v>6.4513739397555531E-2</c:v>
                </c:pt>
                <c:pt idx="156">
                  <c:v>6.5010009423376952E-2</c:v>
                </c:pt>
                <c:pt idx="157">
                  <c:v>6.5506548755090585E-2</c:v>
                </c:pt>
                <c:pt idx="158">
                  <c:v>6.6003357538838084E-2</c:v>
                </c:pt>
                <c:pt idx="159">
                  <c:v>6.6500435920840165E-2</c:v>
                </c:pt>
                <c:pt idx="160">
                  <c:v>6.6997784047397049E-2</c:v>
                </c:pt>
                <c:pt idx="161">
                  <c:v>6.7495402064888202E-2</c:v>
                </c:pt>
                <c:pt idx="162">
                  <c:v>6.7993290119772704E-2</c:v>
                </c:pt>
                <c:pt idx="163">
                  <c:v>6.8491448358589155E-2</c:v>
                </c:pt>
                <c:pt idx="164">
                  <c:v>6.8989876927955385E-2</c:v>
                </c:pt>
                <c:pt idx="165">
                  <c:v>6.9488575974569061E-2</c:v>
                </c:pt>
                <c:pt idx="166">
                  <c:v>6.9987545645207525E-2</c:v>
                </c:pt>
                <c:pt idx="167">
                  <c:v>7.0486786086727357E-2</c:v>
                </c:pt>
                <c:pt idx="168">
                  <c:v>7.0986297446065175E-2</c:v>
                </c:pt>
                <c:pt idx="169">
                  <c:v>7.1486079870237265E-2</c:v>
                </c:pt>
                <c:pt idx="170">
                  <c:v>7.19861335063397E-2</c:v>
                </c:pt>
                <c:pt idx="171">
                  <c:v>7.2486458501548237E-2</c:v>
                </c:pt>
                <c:pt idx="172">
                  <c:v>7.2998221431864935E-2</c:v>
                </c:pt>
                <c:pt idx="173">
                  <c:v>7.3507079581322701E-2</c:v>
                </c:pt>
                <c:pt idx="174">
                  <c:v>7.4016218269366787E-2</c:v>
                </c:pt>
                <c:pt idx="175">
                  <c:v>7.4525637650660934E-2</c:v>
                </c:pt>
                <c:pt idx="176">
                  <c:v>7.50353378799542E-2</c:v>
                </c:pt>
                <c:pt idx="177">
                  <c:v>7.5545319112080928E-2</c:v>
                </c:pt>
                <c:pt idx="178">
                  <c:v>7.6055581501960609E-2</c:v>
                </c:pt>
                <c:pt idx="179">
                  <c:v>7.6566125204598587E-2</c:v>
                </c:pt>
                <c:pt idx="180">
                  <c:v>7.7076950375085149E-2</c:v>
                </c:pt>
                <c:pt idx="181">
                  <c:v>7.7588057168596458E-2</c:v>
                </c:pt>
                <c:pt idx="182">
                  <c:v>7.8099445740394166E-2</c:v>
                </c:pt>
                <c:pt idx="183">
                  <c:v>7.8611116245825438E-2</c:v>
                </c:pt>
                <c:pt idx="184">
                  <c:v>7.9123068840322927E-2</c:v>
                </c:pt>
                <c:pt idx="185">
                  <c:v>7.9635303679405356E-2</c:v>
                </c:pt>
                <c:pt idx="186">
                  <c:v>8.0147820918676935E-2</c:v>
                </c:pt>
                <c:pt idx="187">
                  <c:v>8.0660620713827763E-2</c:v>
                </c:pt>
                <c:pt idx="188">
                  <c:v>8.1173703220633622E-2</c:v>
                </c:pt>
                <c:pt idx="189">
                  <c:v>8.1687068594956364E-2</c:v>
                </c:pt>
                <c:pt idx="190">
                  <c:v>8.2200716992743519E-2</c:v>
                </c:pt>
                <c:pt idx="191">
                  <c:v>8.2714648570028859E-2</c:v>
                </c:pt>
                <c:pt idx="192">
                  <c:v>8.3228863482932056E-2</c:v>
                </c:pt>
                <c:pt idx="193">
                  <c:v>8.3743361887658838E-2</c:v>
                </c:pt>
                <c:pt idx="194">
                  <c:v>8.4258143940501184E-2</c:v>
                </c:pt>
                <c:pt idx="195">
                  <c:v>8.4773209797837132E-2</c:v>
                </c:pt>
                <c:pt idx="196">
                  <c:v>8.5288559616130799E-2</c:v>
                </c:pt>
                <c:pt idx="197">
                  <c:v>8.5804193551932917E-2</c:v>
                </c:pt>
                <c:pt idx="198">
                  <c:v>8.6320111761880106E-2</c:v>
                </c:pt>
                <c:pt idx="199">
                  <c:v>8.6836314402695597E-2</c:v>
                </c:pt>
                <c:pt idx="200">
                  <c:v>8.7352801631189095E-2</c:v>
                </c:pt>
                <c:pt idx="201">
                  <c:v>8.786957360425654E-2</c:v>
                </c:pt>
                <c:pt idx="202">
                  <c:v>8.8386630478880304E-2</c:v>
                </c:pt>
                <c:pt idx="203">
                  <c:v>8.8903972412129786E-2</c:v>
                </c:pt>
                <c:pt idx="204">
                  <c:v>8.9421599561160442E-2</c:v>
                </c:pt>
                <c:pt idx="205">
                  <c:v>8.9939512083214546E-2</c:v>
                </c:pt>
                <c:pt idx="206">
                  <c:v>9.0457710135621178E-2</c:v>
                </c:pt>
                <c:pt idx="207">
                  <c:v>9.0976193875796085E-2</c:v>
                </c:pt>
                <c:pt idx="208">
                  <c:v>9.1494963461241793E-2</c:v>
                </c:pt>
                <c:pt idx="209">
                  <c:v>9.2014019049547674E-2</c:v>
                </c:pt>
                <c:pt idx="210">
                  <c:v>9.2533360798389919E-2</c:v>
                </c:pt>
                <c:pt idx="211">
                  <c:v>9.3052988865531705E-2</c:v>
                </c:pt>
                <c:pt idx="212">
                  <c:v>9.3572903408823238E-2</c:v>
                </c:pt>
                <c:pt idx="213">
                  <c:v>9.4093104586201723E-2</c:v>
                </c:pt>
                <c:pt idx="214">
                  <c:v>9.4613592555691198E-2</c:v>
                </c:pt>
                <c:pt idx="215">
                  <c:v>9.5134367475403062E-2</c:v>
                </c:pt>
                <c:pt idx="216">
                  <c:v>9.5655429503535921E-2</c:v>
                </c:pt>
                <c:pt idx="217">
                  <c:v>9.6176778798375606E-2</c:v>
                </c:pt>
                <c:pt idx="218">
                  <c:v>9.6698415518295097E-2</c:v>
                </c:pt>
                <c:pt idx="219">
                  <c:v>9.7220339821754612E-2</c:v>
                </c:pt>
                <c:pt idx="220">
                  <c:v>9.7742551867301908E-2</c:v>
                </c:pt>
                <c:pt idx="221">
                  <c:v>9.8265051813571966E-2</c:v>
                </c:pt>
                <c:pt idx="222">
                  <c:v>9.8787839819287335E-2</c:v>
                </c:pt>
                <c:pt idx="223">
                  <c:v>9.9310916043258132E-2</c:v>
                </c:pt>
                <c:pt idx="224">
                  <c:v>9.9834280644382059E-2</c:v>
                </c:pt>
                <c:pt idx="225">
                  <c:v>0.10035793378164418</c:v>
                </c:pt>
                <c:pt idx="226">
                  <c:v>0.10088187561411735</c:v>
                </c:pt>
                <c:pt idx="227">
                  <c:v>0.10140610630096218</c:v>
                </c:pt>
                <c:pt idx="228">
                  <c:v>0.10193062600142704</c:v>
                </c:pt>
                <c:pt idx="229">
                  <c:v>0.10245543487484805</c:v>
                </c:pt>
                <c:pt idx="230">
                  <c:v>0.10298053308064893</c:v>
                </c:pt>
                <c:pt idx="231">
                  <c:v>0.10350592077834171</c:v>
                </c:pt>
                <c:pt idx="232">
                  <c:v>0.10403159812752601</c:v>
                </c:pt>
                <c:pt idx="233">
                  <c:v>0.10455756528788974</c:v>
                </c:pt>
                <c:pt idx="234">
                  <c:v>0.10508382241920866</c:v>
                </c:pt>
                <c:pt idx="235">
                  <c:v>0.10561036968134675</c:v>
                </c:pt>
                <c:pt idx="236">
                  <c:v>0.10613720723425585</c:v>
                </c:pt>
                <c:pt idx="237">
                  <c:v>0.10666433523797623</c:v>
                </c:pt>
                <c:pt idx="238">
                  <c:v>0.10719175385263638</c:v>
                </c:pt>
                <c:pt idx="239">
                  <c:v>0.10771946323845288</c:v>
                </c:pt>
                <c:pt idx="240">
                  <c:v>0.10824746355573103</c:v>
                </c:pt>
                <c:pt idx="241">
                  <c:v>0.10877575496486409</c:v>
                </c:pt>
                <c:pt idx="242">
                  <c:v>0.10930433762633385</c:v>
                </c:pt>
                <c:pt idx="243">
                  <c:v>0.10983321170071075</c:v>
                </c:pt>
                <c:pt idx="244">
                  <c:v>0.11036237734865363</c:v>
                </c:pt>
                <c:pt idx="245">
                  <c:v>0.1108918347309098</c:v>
                </c:pt>
                <c:pt idx="246">
                  <c:v>0.1114215840083153</c:v>
                </c:pt>
                <c:pt idx="247">
                  <c:v>0.11195162534179505</c:v>
                </c:pt>
                <c:pt idx="248">
                  <c:v>0.11248195889236233</c:v>
                </c:pt>
                <c:pt idx="249">
                  <c:v>0.11301258482111927</c:v>
                </c:pt>
                <c:pt idx="250">
                  <c:v>0.11354350328925712</c:v>
                </c:pt>
                <c:pt idx="251">
                  <c:v>0.11407471445805564</c:v>
                </c:pt>
                <c:pt idx="252">
                  <c:v>0.11460621848888367</c:v>
                </c:pt>
                <c:pt idx="253">
                  <c:v>0.11513801554319893</c:v>
                </c:pt>
                <c:pt idx="254">
                  <c:v>0.11567010578254806</c:v>
                </c:pt>
                <c:pt idx="255">
                  <c:v>0.11620248936856717</c:v>
                </c:pt>
                <c:pt idx="256">
                  <c:v>0.11673516646298104</c:v>
                </c:pt>
                <c:pt idx="257">
                  <c:v>0.11726813722760375</c:v>
                </c:pt>
                <c:pt idx="258">
                  <c:v>0.11780140182433883</c:v>
                </c:pt>
                <c:pt idx="259">
                  <c:v>0.11833496041517873</c:v>
                </c:pt>
                <c:pt idx="260">
                  <c:v>0.11886881316220531</c:v>
                </c:pt>
                <c:pt idx="261">
                  <c:v>0.11940296022758976</c:v>
                </c:pt>
                <c:pt idx="262">
                  <c:v>0.11993740177359288</c:v>
                </c:pt>
                <c:pt idx="263">
                  <c:v>0.12047213796256478</c:v>
                </c:pt>
                <c:pt idx="264">
                  <c:v>0.12100716895694499</c:v>
                </c:pt>
                <c:pt idx="265">
                  <c:v>0.12154249491926274</c:v>
                </c:pt>
                <c:pt idx="266">
                  <c:v>0.12207811601213683</c:v>
                </c:pt>
                <c:pt idx="267">
                  <c:v>0.12261403239827563</c:v>
                </c:pt>
                <c:pt idx="268">
                  <c:v>0.12315024424047726</c:v>
                </c:pt>
                <c:pt idx="269">
                  <c:v>0.12368675170162953</c:v>
                </c:pt>
                <c:pt idx="270">
                  <c:v>0.12422355494471027</c:v>
                </c:pt>
                <c:pt idx="271">
                  <c:v>0.12476065413278696</c:v>
                </c:pt>
                <c:pt idx="272">
                  <c:v>0.12529804942901693</c:v>
                </c:pt>
                <c:pt idx="273">
                  <c:v>0.12583574099664771</c:v>
                </c:pt>
                <c:pt idx="274">
                  <c:v>0.12637372899901669</c:v>
                </c:pt>
                <c:pt idx="275">
                  <c:v>0.12691201359955126</c:v>
                </c:pt>
                <c:pt idx="276">
                  <c:v>0.12745059496176883</c:v>
                </c:pt>
                <c:pt idx="277">
                  <c:v>0.12798947324927731</c:v>
                </c:pt>
                <c:pt idx="278">
                  <c:v>0.12852864862577448</c:v>
                </c:pt>
                <c:pt idx="279">
                  <c:v>0.12906812125504849</c:v>
                </c:pt>
                <c:pt idx="280">
                  <c:v>0.12960789130097763</c:v>
                </c:pt>
                <c:pt idx="281">
                  <c:v>0.13014795892753075</c:v>
                </c:pt>
                <c:pt idx="282">
                  <c:v>0.1306883242987672</c:v>
                </c:pt>
                <c:pt idx="283">
                  <c:v>0.13122898757883647</c:v>
                </c:pt>
                <c:pt idx="284">
                  <c:v>0.13176994893197866</c:v>
                </c:pt>
                <c:pt idx="285">
                  <c:v>0.13231120852252451</c:v>
                </c:pt>
                <c:pt idx="286">
                  <c:v>0.13285276651489508</c:v>
                </c:pt>
                <c:pt idx="287">
                  <c:v>0.1333946230736025</c:v>
                </c:pt>
                <c:pt idx="288">
                  <c:v>0.13393677836324924</c:v>
                </c:pt>
                <c:pt idx="289">
                  <c:v>0.13447923254852875</c:v>
                </c:pt>
                <c:pt idx="290">
                  <c:v>0.13502198579422511</c:v>
                </c:pt>
                <c:pt idx="291">
                  <c:v>0.13556503826521332</c:v>
                </c:pt>
                <c:pt idx="292">
                  <c:v>0.13610839012645937</c:v>
                </c:pt>
                <c:pt idx="293">
                  <c:v>0.13665204154302005</c:v>
                </c:pt>
                <c:pt idx="294">
                  <c:v>0.13719599268004332</c:v>
                </c:pt>
                <c:pt idx="295">
                  <c:v>0.13774024370276786</c:v>
                </c:pt>
                <c:pt idx="296">
                  <c:v>0.13828479477652378</c:v>
                </c:pt>
                <c:pt idx="297">
                  <c:v>0.13882964606673212</c:v>
                </c:pt>
                <c:pt idx="298">
                  <c:v>0.13937479773890524</c:v>
                </c:pt>
                <c:pt idx="299">
                  <c:v>0.13992024995864671</c:v>
                </c:pt>
                <c:pt idx="300">
                  <c:v>0.14046600289165145</c:v>
                </c:pt>
                <c:pt idx="301">
                  <c:v>0.1410120567037057</c:v>
                </c:pt>
                <c:pt idx="302">
                  <c:v>0.14155841156068708</c:v>
                </c:pt>
                <c:pt idx="303">
                  <c:v>0.14210506762856467</c:v>
                </c:pt>
                <c:pt idx="304">
                  <c:v>0.142652025073399</c:v>
                </c:pt>
                <c:pt idx="305">
                  <c:v>0.1431992840613423</c:v>
                </c:pt>
                <c:pt idx="306">
                  <c:v>0.14374684475863828</c:v>
                </c:pt>
                <c:pt idx="307">
                  <c:v>0.14429470733162228</c:v>
                </c:pt>
              </c:numCache>
            </c:numRef>
          </c:val>
          <c:smooth val="0"/>
          <c:extLst>
            <c:ext xmlns:c16="http://schemas.microsoft.com/office/drawing/2014/chart" uri="{C3380CC4-5D6E-409C-BE32-E72D297353CC}">
              <c16:uniqueId val="{00000001-EB75-49B0-A021-655B266DA02F}"/>
            </c:ext>
          </c:extLst>
        </c:ser>
        <c:ser>
          <c:idx val="0"/>
          <c:order val="2"/>
          <c:tx>
            <c:strRef>
              <c:f>TrackRecord!$H$11</c:f>
              <c:strCache>
                <c:ptCount val="1"/>
                <c:pt idx="0">
                  <c:v> Var% Tática </c:v>
                </c:pt>
              </c:strCache>
            </c:strRef>
          </c:tx>
          <c:spPr>
            <a:ln w="12700" cap="rnd">
              <a:solidFill>
                <a:srgbClr val="003060"/>
              </a:solidFill>
              <a:round/>
            </a:ln>
            <a:effectLst>
              <a:softEdge rad="0"/>
            </a:effectLst>
          </c:spPr>
          <c:marker>
            <c:symbol val="none"/>
          </c:marker>
          <c:cat>
            <c:strRef>
              <c:f>TrackRecord!$B$12:$B$319</c:f>
              <c:strCache>
                <c:ptCount val="308"/>
                <c:pt idx="0">
                  <c:v>4-out.</c:v>
                </c:pt>
                <c:pt idx="1">
                  <c:v>7-out.</c:v>
                </c:pt>
                <c:pt idx="2">
                  <c:v>8-out.</c:v>
                </c:pt>
                <c:pt idx="3">
                  <c:v>9-out.</c:v>
                </c:pt>
                <c:pt idx="4">
                  <c:v>10-out.</c:v>
                </c:pt>
                <c:pt idx="5">
                  <c:v>11-out.</c:v>
                </c:pt>
                <c:pt idx="6">
                  <c:v>14-out.</c:v>
                </c:pt>
                <c:pt idx="7">
                  <c:v>15-out.</c:v>
                </c:pt>
                <c:pt idx="8">
                  <c:v>16-out.</c:v>
                </c:pt>
                <c:pt idx="9">
                  <c:v>17-out.</c:v>
                </c:pt>
                <c:pt idx="10">
                  <c:v>18-out.</c:v>
                </c:pt>
                <c:pt idx="11">
                  <c:v>21-out.</c:v>
                </c:pt>
                <c:pt idx="12">
                  <c:v>22-out.</c:v>
                </c:pt>
                <c:pt idx="13">
                  <c:v>23-out.</c:v>
                </c:pt>
                <c:pt idx="14">
                  <c:v>24-out.</c:v>
                </c:pt>
                <c:pt idx="15">
                  <c:v>25-out.</c:v>
                </c:pt>
                <c:pt idx="16">
                  <c:v>28-out.</c:v>
                </c:pt>
                <c:pt idx="17">
                  <c:v>29-out.</c:v>
                </c:pt>
                <c:pt idx="18">
                  <c:v>30-out.</c:v>
                </c:pt>
                <c:pt idx="19">
                  <c:v>31-out.</c:v>
                </c:pt>
                <c:pt idx="20">
                  <c:v>1-nov.</c:v>
                </c:pt>
                <c:pt idx="21">
                  <c:v>4-nov.</c:v>
                </c:pt>
                <c:pt idx="22">
                  <c:v>5-nov.</c:v>
                </c:pt>
                <c:pt idx="23">
                  <c:v>6-nov.</c:v>
                </c:pt>
                <c:pt idx="24">
                  <c:v>7-nov.</c:v>
                </c:pt>
                <c:pt idx="25">
                  <c:v>8-nov.</c:v>
                </c:pt>
                <c:pt idx="26">
                  <c:v>11-nov.</c:v>
                </c:pt>
                <c:pt idx="27">
                  <c:v>12-nov.</c:v>
                </c:pt>
                <c:pt idx="28">
                  <c:v>13-nov.</c:v>
                </c:pt>
                <c:pt idx="29">
                  <c:v>14-nov.</c:v>
                </c:pt>
                <c:pt idx="30">
                  <c:v>18-nov.</c:v>
                </c:pt>
                <c:pt idx="31">
                  <c:v>19-nov.</c:v>
                </c:pt>
                <c:pt idx="32">
                  <c:v>21-nov.</c:v>
                </c:pt>
                <c:pt idx="33">
                  <c:v>22-nov.</c:v>
                </c:pt>
                <c:pt idx="34">
                  <c:v>25-nov.</c:v>
                </c:pt>
                <c:pt idx="35">
                  <c:v>26-nov.</c:v>
                </c:pt>
                <c:pt idx="36">
                  <c:v>27-nov.</c:v>
                </c:pt>
                <c:pt idx="37">
                  <c:v>28-nov.</c:v>
                </c:pt>
                <c:pt idx="38">
                  <c:v>29-nov.</c:v>
                </c:pt>
                <c:pt idx="39">
                  <c:v>2-dez.</c:v>
                </c:pt>
                <c:pt idx="40">
                  <c:v>3-dez.</c:v>
                </c:pt>
                <c:pt idx="41">
                  <c:v>4-dez.</c:v>
                </c:pt>
                <c:pt idx="42">
                  <c:v>5-dez.</c:v>
                </c:pt>
                <c:pt idx="43">
                  <c:v>6-dez.</c:v>
                </c:pt>
                <c:pt idx="44">
                  <c:v>9-dez.</c:v>
                </c:pt>
                <c:pt idx="45">
                  <c:v>10-dez.</c:v>
                </c:pt>
                <c:pt idx="46">
                  <c:v>11-dez.</c:v>
                </c:pt>
                <c:pt idx="47">
                  <c:v>12-dez.</c:v>
                </c:pt>
                <c:pt idx="48">
                  <c:v>13-dez.</c:v>
                </c:pt>
                <c:pt idx="49">
                  <c:v>16-dez.</c:v>
                </c:pt>
                <c:pt idx="50">
                  <c:v>17-dez.</c:v>
                </c:pt>
                <c:pt idx="51">
                  <c:v>18-dez.</c:v>
                </c:pt>
                <c:pt idx="52">
                  <c:v>19-dez.</c:v>
                </c:pt>
                <c:pt idx="53">
                  <c:v>20-dez.</c:v>
                </c:pt>
                <c:pt idx="54">
                  <c:v>23-dez.</c:v>
                </c:pt>
                <c:pt idx="55">
                  <c:v>26-dez.</c:v>
                </c:pt>
                <c:pt idx="56">
                  <c:v>27-dez.</c:v>
                </c:pt>
                <c:pt idx="57">
                  <c:v>30-dez.</c:v>
                </c:pt>
                <c:pt idx="58">
                  <c:v>2-jan.</c:v>
                </c:pt>
                <c:pt idx="59">
                  <c:v>3-jan.</c:v>
                </c:pt>
                <c:pt idx="60">
                  <c:v>6-jan.</c:v>
                </c:pt>
                <c:pt idx="61">
                  <c:v>7-jan.</c:v>
                </c:pt>
                <c:pt idx="62">
                  <c:v>8-jan.</c:v>
                </c:pt>
                <c:pt idx="63">
                  <c:v>9-jan.</c:v>
                </c:pt>
                <c:pt idx="64">
                  <c:v>10-jan.</c:v>
                </c:pt>
                <c:pt idx="65">
                  <c:v>13-jan.</c:v>
                </c:pt>
                <c:pt idx="66">
                  <c:v>14-jan.</c:v>
                </c:pt>
                <c:pt idx="67">
                  <c:v>15-jan.</c:v>
                </c:pt>
                <c:pt idx="68">
                  <c:v>16-jan.</c:v>
                </c:pt>
                <c:pt idx="69">
                  <c:v>17-jan.</c:v>
                </c:pt>
                <c:pt idx="70">
                  <c:v>20-jan.</c:v>
                </c:pt>
                <c:pt idx="71">
                  <c:v>21-jan.</c:v>
                </c:pt>
                <c:pt idx="72">
                  <c:v>22-jan.</c:v>
                </c:pt>
                <c:pt idx="73">
                  <c:v>23-jan.</c:v>
                </c:pt>
                <c:pt idx="74">
                  <c:v>24-jan.</c:v>
                </c:pt>
                <c:pt idx="75">
                  <c:v>27-jan.</c:v>
                </c:pt>
                <c:pt idx="76">
                  <c:v>28-jan.</c:v>
                </c:pt>
                <c:pt idx="77">
                  <c:v>29-jan.</c:v>
                </c:pt>
                <c:pt idx="78">
                  <c:v>30-jan.</c:v>
                </c:pt>
                <c:pt idx="79">
                  <c:v>31-jan.</c:v>
                </c:pt>
                <c:pt idx="80">
                  <c:v>3-fev.</c:v>
                </c:pt>
                <c:pt idx="81">
                  <c:v>4-fev.</c:v>
                </c:pt>
                <c:pt idx="82">
                  <c:v>5-fev.</c:v>
                </c:pt>
                <c:pt idx="83">
                  <c:v>6-fev.</c:v>
                </c:pt>
                <c:pt idx="84">
                  <c:v>7-fev.</c:v>
                </c:pt>
                <c:pt idx="85">
                  <c:v>10-fev.</c:v>
                </c:pt>
                <c:pt idx="86">
                  <c:v>11-fev.</c:v>
                </c:pt>
                <c:pt idx="87">
                  <c:v>12-fev.</c:v>
                </c:pt>
                <c:pt idx="88">
                  <c:v>13-fev.</c:v>
                </c:pt>
                <c:pt idx="89">
                  <c:v>14-fev.</c:v>
                </c:pt>
                <c:pt idx="90">
                  <c:v>17-fev.</c:v>
                </c:pt>
                <c:pt idx="91">
                  <c:v>18-fev.</c:v>
                </c:pt>
                <c:pt idx="92">
                  <c:v>19-fev.</c:v>
                </c:pt>
                <c:pt idx="93">
                  <c:v>20-fev.</c:v>
                </c:pt>
                <c:pt idx="94">
                  <c:v>21-fev.</c:v>
                </c:pt>
                <c:pt idx="95">
                  <c:v>24-fev.</c:v>
                </c:pt>
                <c:pt idx="96">
                  <c:v>25-fev.</c:v>
                </c:pt>
                <c:pt idx="97">
                  <c:v>26-fev.</c:v>
                </c:pt>
                <c:pt idx="98">
                  <c:v>27-fev.</c:v>
                </c:pt>
                <c:pt idx="99">
                  <c:v>28-fev.</c:v>
                </c:pt>
                <c:pt idx="100">
                  <c:v>05-mar.</c:v>
                </c:pt>
                <c:pt idx="101">
                  <c:v>06-mar.</c:v>
                </c:pt>
                <c:pt idx="102">
                  <c:v>07-mar.</c:v>
                </c:pt>
                <c:pt idx="103">
                  <c:v>10-mar.</c:v>
                </c:pt>
                <c:pt idx="104">
                  <c:v>11-mar.</c:v>
                </c:pt>
                <c:pt idx="105">
                  <c:v>12-mar.</c:v>
                </c:pt>
                <c:pt idx="106">
                  <c:v>13-mar.</c:v>
                </c:pt>
                <c:pt idx="107">
                  <c:v>14-mar.</c:v>
                </c:pt>
                <c:pt idx="108">
                  <c:v>17-mar.</c:v>
                </c:pt>
                <c:pt idx="109">
                  <c:v>18-mar.</c:v>
                </c:pt>
                <c:pt idx="110">
                  <c:v>19-mar.</c:v>
                </c:pt>
                <c:pt idx="111">
                  <c:v>20-mar.</c:v>
                </c:pt>
                <c:pt idx="112">
                  <c:v>21-mar.</c:v>
                </c:pt>
                <c:pt idx="113">
                  <c:v>24-mar. </c:v>
                </c:pt>
                <c:pt idx="114">
                  <c:v>25-mar.</c:v>
                </c:pt>
                <c:pt idx="115">
                  <c:v>26-mar.</c:v>
                </c:pt>
                <c:pt idx="116">
                  <c:v>27-mar.</c:v>
                </c:pt>
                <c:pt idx="117">
                  <c:v>28-mar.</c:v>
                </c:pt>
                <c:pt idx="118">
                  <c:v>31-mar.</c:v>
                </c:pt>
                <c:pt idx="119">
                  <c:v>01-abr.</c:v>
                </c:pt>
                <c:pt idx="120">
                  <c:v>02-abr.</c:v>
                </c:pt>
                <c:pt idx="121">
                  <c:v>03-abr.</c:v>
                </c:pt>
                <c:pt idx="122">
                  <c:v>04-abr.</c:v>
                </c:pt>
                <c:pt idx="123">
                  <c:v>07-abr.</c:v>
                </c:pt>
                <c:pt idx="124">
                  <c:v>08-abr.</c:v>
                </c:pt>
                <c:pt idx="125">
                  <c:v>09-abr.</c:v>
                </c:pt>
                <c:pt idx="126">
                  <c:v>10-abr.</c:v>
                </c:pt>
                <c:pt idx="127">
                  <c:v>11-abr.</c:v>
                </c:pt>
                <c:pt idx="128">
                  <c:v>14-abr.</c:v>
                </c:pt>
                <c:pt idx="129">
                  <c:v>15-abr.</c:v>
                </c:pt>
                <c:pt idx="130">
                  <c:v>16-abr.</c:v>
                </c:pt>
                <c:pt idx="131">
                  <c:v>17-abr.</c:v>
                </c:pt>
                <c:pt idx="132">
                  <c:v>22-abr.</c:v>
                </c:pt>
                <c:pt idx="133">
                  <c:v>23-abr.</c:v>
                </c:pt>
                <c:pt idx="134">
                  <c:v>24-abr.</c:v>
                </c:pt>
                <c:pt idx="135">
                  <c:v>25-abr.</c:v>
                </c:pt>
                <c:pt idx="136">
                  <c:v>28-abr.</c:v>
                </c:pt>
                <c:pt idx="137">
                  <c:v>29-abr.</c:v>
                </c:pt>
                <c:pt idx="138">
                  <c:v>30-abr.</c:v>
                </c:pt>
                <c:pt idx="139">
                  <c:v>02-mai.</c:v>
                </c:pt>
                <c:pt idx="140">
                  <c:v>05-mai.</c:v>
                </c:pt>
                <c:pt idx="141">
                  <c:v>06-mai.</c:v>
                </c:pt>
                <c:pt idx="142">
                  <c:v>07-mai.</c:v>
                </c:pt>
                <c:pt idx="143">
                  <c:v>08-mai.</c:v>
                </c:pt>
                <c:pt idx="144">
                  <c:v>09-mai.</c:v>
                </c:pt>
                <c:pt idx="145">
                  <c:v>12-mai.</c:v>
                </c:pt>
                <c:pt idx="146">
                  <c:v>13-mai.</c:v>
                </c:pt>
                <c:pt idx="147">
                  <c:v>14-mai.</c:v>
                </c:pt>
                <c:pt idx="148">
                  <c:v>15-mai.</c:v>
                </c:pt>
                <c:pt idx="149">
                  <c:v>16-mai.</c:v>
                </c:pt>
                <c:pt idx="150">
                  <c:v>19-mai.</c:v>
                </c:pt>
                <c:pt idx="151">
                  <c:v>20-mai.</c:v>
                </c:pt>
                <c:pt idx="152">
                  <c:v>21-mai.</c:v>
                </c:pt>
                <c:pt idx="153">
                  <c:v>22-mai.</c:v>
                </c:pt>
                <c:pt idx="154">
                  <c:v>23-mai.</c:v>
                </c:pt>
                <c:pt idx="155">
                  <c:v>26-mai.</c:v>
                </c:pt>
                <c:pt idx="156">
                  <c:v>27-mai.</c:v>
                </c:pt>
                <c:pt idx="157">
                  <c:v>28-mai.</c:v>
                </c:pt>
                <c:pt idx="158">
                  <c:v>29-mai.</c:v>
                </c:pt>
                <c:pt idx="159">
                  <c:v>30-mai.</c:v>
                </c:pt>
                <c:pt idx="160">
                  <c:v>02-jun.</c:v>
                </c:pt>
                <c:pt idx="161">
                  <c:v>03-jun.</c:v>
                </c:pt>
                <c:pt idx="162">
                  <c:v>04-jun.</c:v>
                </c:pt>
                <c:pt idx="163">
                  <c:v>05-jun.</c:v>
                </c:pt>
                <c:pt idx="164">
                  <c:v>06-jun.</c:v>
                </c:pt>
                <c:pt idx="165">
                  <c:v>09-jun.</c:v>
                </c:pt>
                <c:pt idx="166">
                  <c:v>10-jun.</c:v>
                </c:pt>
                <c:pt idx="167">
                  <c:v>11-jun.</c:v>
                </c:pt>
                <c:pt idx="168">
                  <c:v>12-jun.</c:v>
                </c:pt>
                <c:pt idx="169">
                  <c:v>13-jun.</c:v>
                </c:pt>
                <c:pt idx="170">
                  <c:v>16-jun.</c:v>
                </c:pt>
                <c:pt idx="171">
                  <c:v>17-jun.</c:v>
                </c:pt>
                <c:pt idx="172">
                  <c:v>18-jun.</c:v>
                </c:pt>
                <c:pt idx="173">
                  <c:v>20-jun.</c:v>
                </c:pt>
                <c:pt idx="174">
                  <c:v>23-jun.</c:v>
                </c:pt>
                <c:pt idx="175">
                  <c:v>24-jun.</c:v>
                </c:pt>
                <c:pt idx="176">
                  <c:v>25-jun.</c:v>
                </c:pt>
                <c:pt idx="177">
                  <c:v>26-jun.</c:v>
                </c:pt>
                <c:pt idx="178">
                  <c:v>27-jun.</c:v>
                </c:pt>
                <c:pt idx="179">
                  <c:v>30/jun.</c:v>
                </c:pt>
                <c:pt idx="180">
                  <c:v>01/jul.</c:v>
                </c:pt>
                <c:pt idx="181">
                  <c:v>02/jul.</c:v>
                </c:pt>
                <c:pt idx="182">
                  <c:v>03/jul.</c:v>
                </c:pt>
                <c:pt idx="183">
                  <c:v>04/jul.</c:v>
                </c:pt>
                <c:pt idx="184">
                  <c:v>07/jul.</c:v>
                </c:pt>
                <c:pt idx="185">
                  <c:v>08/jul.</c:v>
                </c:pt>
                <c:pt idx="186">
                  <c:v>09/jul.</c:v>
                </c:pt>
                <c:pt idx="187">
                  <c:v>10/jul.</c:v>
                </c:pt>
                <c:pt idx="188">
                  <c:v>11/jul.</c:v>
                </c:pt>
                <c:pt idx="189">
                  <c:v>14/jul.</c:v>
                </c:pt>
                <c:pt idx="190">
                  <c:v>15/jul.</c:v>
                </c:pt>
                <c:pt idx="191">
                  <c:v>16/jul.</c:v>
                </c:pt>
                <c:pt idx="192">
                  <c:v>17/jul.</c:v>
                </c:pt>
                <c:pt idx="193">
                  <c:v>18/jul.</c:v>
                </c:pt>
                <c:pt idx="194">
                  <c:v>21/jul.</c:v>
                </c:pt>
                <c:pt idx="195">
                  <c:v>22/jul.</c:v>
                </c:pt>
                <c:pt idx="196">
                  <c:v>23/jul.</c:v>
                </c:pt>
                <c:pt idx="197">
                  <c:v>24/jul.</c:v>
                </c:pt>
                <c:pt idx="198">
                  <c:v>25/jul.</c:v>
                </c:pt>
                <c:pt idx="199">
                  <c:v>28/jul.</c:v>
                </c:pt>
                <c:pt idx="200">
                  <c:v>29/jul.</c:v>
                </c:pt>
                <c:pt idx="201">
                  <c:v>30/jul.</c:v>
                </c:pt>
                <c:pt idx="202">
                  <c:v>31/jul.</c:v>
                </c:pt>
                <c:pt idx="203">
                  <c:v>01/ago.</c:v>
                </c:pt>
                <c:pt idx="204">
                  <c:v>04/ago.</c:v>
                </c:pt>
                <c:pt idx="205">
                  <c:v>05/ago.</c:v>
                </c:pt>
                <c:pt idx="206">
                  <c:v>06/ago.</c:v>
                </c:pt>
                <c:pt idx="207">
                  <c:v>07/ago.</c:v>
                </c:pt>
                <c:pt idx="208">
                  <c:v>08/ago.</c:v>
                </c:pt>
                <c:pt idx="209">
                  <c:v>11/ago.</c:v>
                </c:pt>
                <c:pt idx="210">
                  <c:v>12/ago.</c:v>
                </c:pt>
                <c:pt idx="211">
                  <c:v>13/ago.</c:v>
                </c:pt>
                <c:pt idx="212">
                  <c:v>14/ago.</c:v>
                </c:pt>
                <c:pt idx="213">
                  <c:v>15/ago.</c:v>
                </c:pt>
                <c:pt idx="214">
                  <c:v>18/ago.</c:v>
                </c:pt>
                <c:pt idx="215">
                  <c:v>19/ago.</c:v>
                </c:pt>
                <c:pt idx="216">
                  <c:v>20/ago.</c:v>
                </c:pt>
                <c:pt idx="217">
                  <c:v>21/ago.</c:v>
                </c:pt>
                <c:pt idx="218">
                  <c:v>22/ago.</c:v>
                </c:pt>
                <c:pt idx="219">
                  <c:v>25/ago.</c:v>
                </c:pt>
                <c:pt idx="220">
                  <c:v>26/ago.</c:v>
                </c:pt>
                <c:pt idx="221">
                  <c:v>27/ago.</c:v>
                </c:pt>
                <c:pt idx="222">
                  <c:v>28/ago.</c:v>
                </c:pt>
                <c:pt idx="223">
                  <c:v>29/ago.</c:v>
                </c:pt>
                <c:pt idx="224">
                  <c:v>01/set.</c:v>
                </c:pt>
                <c:pt idx="225">
                  <c:v>02/set.</c:v>
                </c:pt>
                <c:pt idx="226">
                  <c:v>03/set.</c:v>
                </c:pt>
                <c:pt idx="227">
                  <c:v>04/set.</c:v>
                </c:pt>
                <c:pt idx="228">
                  <c:v>05/set.</c:v>
                </c:pt>
                <c:pt idx="229">
                  <c:v>08/set.</c:v>
                </c:pt>
                <c:pt idx="230">
                  <c:v>09/set.</c:v>
                </c:pt>
                <c:pt idx="231">
                  <c:v>10/set.</c:v>
                </c:pt>
                <c:pt idx="232">
                  <c:v>11/set.</c:v>
                </c:pt>
                <c:pt idx="233">
                  <c:v>12/set.</c:v>
                </c:pt>
                <c:pt idx="234">
                  <c:v>15/set.</c:v>
                </c:pt>
                <c:pt idx="235">
                  <c:v>16/set.</c:v>
                </c:pt>
                <c:pt idx="236">
                  <c:v>17/set.</c:v>
                </c:pt>
                <c:pt idx="237">
                  <c:v>18/set.</c:v>
                </c:pt>
                <c:pt idx="238">
                  <c:v>19/set.</c:v>
                </c:pt>
                <c:pt idx="239">
                  <c:v>22/set.</c:v>
                </c:pt>
                <c:pt idx="240">
                  <c:v>23/set.</c:v>
                </c:pt>
                <c:pt idx="241">
                  <c:v>24/set.</c:v>
                </c:pt>
                <c:pt idx="242">
                  <c:v>25/set.</c:v>
                </c:pt>
                <c:pt idx="243">
                  <c:v>26/set.</c:v>
                </c:pt>
                <c:pt idx="244">
                  <c:v>29/set.</c:v>
                </c:pt>
                <c:pt idx="245">
                  <c:v>30/set.</c:v>
                </c:pt>
                <c:pt idx="246">
                  <c:v>01/out.</c:v>
                </c:pt>
                <c:pt idx="247">
                  <c:v>02/out.</c:v>
                </c:pt>
                <c:pt idx="248">
                  <c:v>03/out.</c:v>
                </c:pt>
                <c:pt idx="249">
                  <c:v>06/out.</c:v>
                </c:pt>
                <c:pt idx="250">
                  <c:v>07/out.</c:v>
                </c:pt>
                <c:pt idx="251">
                  <c:v>08/out.</c:v>
                </c:pt>
                <c:pt idx="252">
                  <c:v>09/out.</c:v>
                </c:pt>
                <c:pt idx="253">
                  <c:v>10/out.</c:v>
                </c:pt>
                <c:pt idx="254">
                  <c:v>13/out.</c:v>
                </c:pt>
                <c:pt idx="255">
                  <c:v>14/out.</c:v>
                </c:pt>
                <c:pt idx="256">
                  <c:v>15/out.</c:v>
                </c:pt>
                <c:pt idx="257">
                  <c:v>16/out.</c:v>
                </c:pt>
                <c:pt idx="258">
                  <c:v>17/out.</c:v>
                </c:pt>
                <c:pt idx="259">
                  <c:v>20/out.</c:v>
                </c:pt>
                <c:pt idx="260">
                  <c:v>21/out.</c:v>
                </c:pt>
                <c:pt idx="261">
                  <c:v>22/out.</c:v>
                </c:pt>
                <c:pt idx="262">
                  <c:v>23/out.</c:v>
                </c:pt>
                <c:pt idx="263">
                  <c:v>24/out.</c:v>
                </c:pt>
                <c:pt idx="264">
                  <c:v>27/out.</c:v>
                </c:pt>
                <c:pt idx="265">
                  <c:v>28/out.</c:v>
                </c:pt>
                <c:pt idx="266">
                  <c:v>29/out.</c:v>
                </c:pt>
                <c:pt idx="267">
                  <c:v>30/out.</c:v>
                </c:pt>
                <c:pt idx="268">
                  <c:v>31/out.</c:v>
                </c:pt>
                <c:pt idx="269">
                  <c:v>03/nov.</c:v>
                </c:pt>
                <c:pt idx="270">
                  <c:v>04/nov.</c:v>
                </c:pt>
                <c:pt idx="271">
                  <c:v>05/nov.</c:v>
                </c:pt>
                <c:pt idx="272">
                  <c:v>06/nov.</c:v>
                </c:pt>
                <c:pt idx="273">
                  <c:v>07/nov.</c:v>
                </c:pt>
                <c:pt idx="274">
                  <c:v>10/nov.</c:v>
                </c:pt>
                <c:pt idx="275">
                  <c:v>11/nov.</c:v>
                </c:pt>
                <c:pt idx="276">
                  <c:v>12/nov.</c:v>
                </c:pt>
                <c:pt idx="277">
                  <c:v>13/nov.</c:v>
                </c:pt>
                <c:pt idx="278">
                  <c:v>14/nov.</c:v>
                </c:pt>
                <c:pt idx="279">
                  <c:v>17/nov.</c:v>
                </c:pt>
                <c:pt idx="280">
                  <c:v>18/nov.</c:v>
                </c:pt>
                <c:pt idx="281">
                  <c:v>19/nov.</c:v>
                </c:pt>
                <c:pt idx="282">
                  <c:v>21/nov.</c:v>
                </c:pt>
                <c:pt idx="283">
                  <c:v>24/nov.</c:v>
                </c:pt>
                <c:pt idx="284">
                  <c:v>25/nov.</c:v>
                </c:pt>
                <c:pt idx="285">
                  <c:v>26/nov.</c:v>
                </c:pt>
                <c:pt idx="286">
                  <c:v>27/nov.</c:v>
                </c:pt>
                <c:pt idx="287">
                  <c:v>28/nov.</c:v>
                </c:pt>
                <c:pt idx="288">
                  <c:v>01/dez.</c:v>
                </c:pt>
                <c:pt idx="289">
                  <c:v>02/dez.</c:v>
                </c:pt>
                <c:pt idx="290">
                  <c:v>03/dez.</c:v>
                </c:pt>
                <c:pt idx="291">
                  <c:v>04/dez.</c:v>
                </c:pt>
                <c:pt idx="292">
                  <c:v>05/dez.</c:v>
                </c:pt>
                <c:pt idx="293">
                  <c:v>08/dez.</c:v>
                </c:pt>
                <c:pt idx="294">
                  <c:v>09/dez.</c:v>
                </c:pt>
                <c:pt idx="295">
                  <c:v>10/dez.</c:v>
                </c:pt>
                <c:pt idx="296">
                  <c:v>11/dez.</c:v>
                </c:pt>
                <c:pt idx="297">
                  <c:v>12/dez.</c:v>
                </c:pt>
                <c:pt idx="298">
                  <c:v>15/dez.</c:v>
                </c:pt>
                <c:pt idx="299">
                  <c:v>16/dez.</c:v>
                </c:pt>
                <c:pt idx="300">
                  <c:v>17/dez.</c:v>
                </c:pt>
                <c:pt idx="301">
                  <c:v>18/dez.</c:v>
                </c:pt>
                <c:pt idx="302">
                  <c:v>19/dez.</c:v>
                </c:pt>
                <c:pt idx="303">
                  <c:v>22/dez.</c:v>
                </c:pt>
                <c:pt idx="304">
                  <c:v>23/dez.</c:v>
                </c:pt>
                <c:pt idx="305">
                  <c:v>26/dez.</c:v>
                </c:pt>
                <c:pt idx="306">
                  <c:v>29/dez.</c:v>
                </c:pt>
                <c:pt idx="307">
                  <c:v>30/dez.</c:v>
                </c:pt>
              </c:strCache>
            </c:strRef>
          </c:cat>
          <c:val>
            <c:numRef>
              <c:f>TrackRecord!$H$12:$H$319</c:f>
              <c:numCache>
                <c:formatCode>0.00%</c:formatCode>
                <c:ptCount val="308"/>
                <c:pt idx="1">
                  <c:v>-4.1020952380965703E-4</c:v>
                </c:pt>
                <c:pt idx="2">
                  <c:v>-3.7340092807255365E-3</c:v>
                </c:pt>
                <c:pt idx="3">
                  <c:v>-1.0320396566218859E-2</c:v>
                </c:pt>
                <c:pt idx="4">
                  <c:v>-1.4555693699634054E-2</c:v>
                </c:pt>
                <c:pt idx="5">
                  <c:v>-1.539035665930788E-2</c:v>
                </c:pt>
                <c:pt idx="6">
                  <c:v>-1.8580733079387346E-2</c:v>
                </c:pt>
                <c:pt idx="7">
                  <c:v>-1.4684633538123659E-2</c:v>
                </c:pt>
                <c:pt idx="8">
                  <c:v>-1.42182267611346E-2</c:v>
                </c:pt>
                <c:pt idx="9">
                  <c:v>-1.049129775573554E-2</c:v>
                </c:pt>
                <c:pt idx="10">
                  <c:v>-1.047619082007456E-2</c:v>
                </c:pt>
                <c:pt idx="11">
                  <c:v>-1.3904284244102727E-2</c:v>
                </c:pt>
                <c:pt idx="12">
                  <c:v>-1.7024029380192096E-2</c:v>
                </c:pt>
                <c:pt idx="13">
                  <c:v>-2.4125566903302142E-2</c:v>
                </c:pt>
                <c:pt idx="14">
                  <c:v>-2.4519468675518685E-2</c:v>
                </c:pt>
                <c:pt idx="15">
                  <c:v>-2.362749440245504E-2</c:v>
                </c:pt>
                <c:pt idx="16">
                  <c:v>-2.0740074700207334E-2</c:v>
                </c:pt>
                <c:pt idx="17">
                  <c:v>-1.387112374604782E-2</c:v>
                </c:pt>
                <c:pt idx="18">
                  <c:v>-6.1055363383396566E-3</c:v>
                </c:pt>
                <c:pt idx="19">
                  <c:v>-8.662533825569696E-3</c:v>
                </c:pt>
                <c:pt idx="20">
                  <c:v>-7.5170704319071913E-3</c:v>
                </c:pt>
                <c:pt idx="21">
                  <c:v>-3.375634311182707E-3</c:v>
                </c:pt>
                <c:pt idx="22">
                  <c:v>-4.9220301294132796E-3</c:v>
                </c:pt>
                <c:pt idx="23">
                  <c:v>-3.115589128695806E-3</c:v>
                </c:pt>
                <c:pt idx="24">
                  <c:v>-3.1763911384784516E-3</c:v>
                </c:pt>
                <c:pt idx="25">
                  <c:v>-1.2753250339275768E-3</c:v>
                </c:pt>
                <c:pt idx="26">
                  <c:v>-1.0928970859522047E-2</c:v>
                </c:pt>
                <c:pt idx="27">
                  <c:v>-1.0287986836406415E-2</c:v>
                </c:pt>
                <c:pt idx="28">
                  <c:v>-9.4216847414816396E-3</c:v>
                </c:pt>
                <c:pt idx="29">
                  <c:v>-1.0410603272797303E-2</c:v>
                </c:pt>
                <c:pt idx="30">
                  <c:v>-8.6354982584336826E-3</c:v>
                </c:pt>
                <c:pt idx="31">
                  <c:v>-5.1548355084752862E-3</c:v>
                </c:pt>
                <c:pt idx="32">
                  <c:v>-8.7001222981059056E-3</c:v>
                </c:pt>
                <c:pt idx="33">
                  <c:v>-7.9733246761465315E-3</c:v>
                </c:pt>
                <c:pt idx="34">
                  <c:v>-4.6436110255589913E-3</c:v>
                </c:pt>
                <c:pt idx="35">
                  <c:v>-3.4883766538679195E-3</c:v>
                </c:pt>
                <c:pt idx="36">
                  <c:v>-5.1438364544237336E-3</c:v>
                </c:pt>
                <c:pt idx="37">
                  <c:v>-9.1411235059366547E-3</c:v>
                </c:pt>
                <c:pt idx="38">
                  <c:v>-3.6663153839483487E-3</c:v>
                </c:pt>
                <c:pt idx="39">
                  <c:v>-5.2343042812010854E-3</c:v>
                </c:pt>
                <c:pt idx="40">
                  <c:v>-9.3707891787182529E-3</c:v>
                </c:pt>
                <c:pt idx="41">
                  <c:v>-1.208264225516642E-2</c:v>
                </c:pt>
                <c:pt idx="42">
                  <c:v>-1.6614164097017547E-2</c:v>
                </c:pt>
                <c:pt idx="43">
                  <c:v>-1.5310111378824764E-2</c:v>
                </c:pt>
                <c:pt idx="44">
                  <c:v>-1.9074889709506104E-2</c:v>
                </c:pt>
                <c:pt idx="45">
                  <c:v>-1.7319578402608338E-2</c:v>
                </c:pt>
                <c:pt idx="46">
                  <c:v>-1.7047242222170245E-2</c:v>
                </c:pt>
                <c:pt idx="47">
                  <c:v>-2.1861312525926824E-2</c:v>
                </c:pt>
                <c:pt idx="48">
                  <c:v>-1.565233487562856E-2</c:v>
                </c:pt>
                <c:pt idx="49">
                  <c:v>-1.5568305058131671E-2</c:v>
                </c:pt>
                <c:pt idx="50">
                  <c:v>-2.1027743908011098E-2</c:v>
                </c:pt>
                <c:pt idx="51">
                  <c:v>-2.7454786104584739E-2</c:v>
                </c:pt>
                <c:pt idx="52">
                  <c:v>-3.2423808609677529E-2</c:v>
                </c:pt>
                <c:pt idx="53">
                  <c:v>-1.5518846138043885E-2</c:v>
                </c:pt>
                <c:pt idx="54">
                  <c:v>-3.6335283218336123E-4</c:v>
                </c:pt>
                <c:pt idx="55">
                  <c:v>6.7835129619315815E-3</c:v>
                </c:pt>
                <c:pt idx="56">
                  <c:v>1.5638888037329046E-2</c:v>
                </c:pt>
                <c:pt idx="57">
                  <c:v>1.301222696975679E-2</c:v>
                </c:pt>
                <c:pt idx="58">
                  <c:v>1.6676105951290987E-2</c:v>
                </c:pt>
                <c:pt idx="59">
                  <c:v>1.6561535682879436E-2</c:v>
                </c:pt>
                <c:pt idx="60">
                  <c:v>1.8759702917315213E-2</c:v>
                </c:pt>
                <c:pt idx="61">
                  <c:v>2.3599729896915278E-2</c:v>
                </c:pt>
                <c:pt idx="62">
                  <c:v>2.6390017047561276E-2</c:v>
                </c:pt>
                <c:pt idx="63">
                  <c:v>2.606182637815202E-2</c:v>
                </c:pt>
                <c:pt idx="64">
                  <c:v>2.5335853535489727E-2</c:v>
                </c:pt>
                <c:pt idx="65">
                  <c:v>2.7395899296537518E-2</c:v>
                </c:pt>
                <c:pt idx="66">
                  <c:v>2.7553423761097262E-2</c:v>
                </c:pt>
                <c:pt idx="67">
                  <c:v>3.121503419735383E-2</c:v>
                </c:pt>
                <c:pt idx="68">
                  <c:v>2.9825331660900956E-2</c:v>
                </c:pt>
                <c:pt idx="69">
                  <c:v>2.7817722771082742E-2</c:v>
                </c:pt>
                <c:pt idx="70">
                  <c:v>2.9195533587486056E-2</c:v>
                </c:pt>
                <c:pt idx="71">
                  <c:v>2.3691019020336768E-2</c:v>
                </c:pt>
                <c:pt idx="72">
                  <c:v>2.5851333128124043E-2</c:v>
                </c:pt>
                <c:pt idx="73">
                  <c:v>2.1445480530713379E-2</c:v>
                </c:pt>
                <c:pt idx="74">
                  <c:v>2.4609582846114364E-2</c:v>
                </c:pt>
                <c:pt idx="75">
                  <c:v>2.2035956685235947E-2</c:v>
                </c:pt>
                <c:pt idx="76">
                  <c:v>2.0917043677387781E-2</c:v>
                </c:pt>
                <c:pt idx="77">
                  <c:v>2.5495076697749974E-2</c:v>
                </c:pt>
                <c:pt idx="78">
                  <c:v>2.9963916908862798E-2</c:v>
                </c:pt>
                <c:pt idx="79">
                  <c:v>5.0198741895126187E-2</c:v>
                </c:pt>
                <c:pt idx="80">
                  <c:v>3.7169956333964249E-2</c:v>
                </c:pt>
                <c:pt idx="81">
                  <c:v>3.6253897479542774E-2</c:v>
                </c:pt>
                <c:pt idx="82">
                  <c:v>3.5970709090691111E-2</c:v>
                </c:pt>
                <c:pt idx="83">
                  <c:v>3.709766630474931E-2</c:v>
                </c:pt>
                <c:pt idx="84">
                  <c:v>3.940155300561976E-2</c:v>
                </c:pt>
                <c:pt idx="85">
                  <c:v>4.2418972672668254E-2</c:v>
                </c:pt>
                <c:pt idx="86">
                  <c:v>4.5755593939870831E-2</c:v>
                </c:pt>
                <c:pt idx="87">
                  <c:v>4.2863041950330638E-2</c:v>
                </c:pt>
                <c:pt idx="88">
                  <c:v>4.6105977474765192E-2</c:v>
                </c:pt>
                <c:pt idx="89">
                  <c:v>5.2694856198923556E-2</c:v>
                </c:pt>
                <c:pt idx="90">
                  <c:v>6.0210461751766697E-2</c:v>
                </c:pt>
                <c:pt idx="91">
                  <c:v>6.622573697968126E-2</c:v>
                </c:pt>
                <c:pt idx="92">
                  <c:v>7.2385188082340512E-2</c:v>
                </c:pt>
                <c:pt idx="93">
                  <c:v>6.7029157868625511E-2</c:v>
                </c:pt>
                <c:pt idx="94">
                  <c:v>7.5575720960145309E-2</c:v>
                </c:pt>
                <c:pt idx="95">
                  <c:v>7.7043181855507736E-2</c:v>
                </c:pt>
                <c:pt idx="96">
                  <c:v>8.6671087740260555E-2</c:v>
                </c:pt>
                <c:pt idx="97">
                  <c:v>8.355105405077512E-2</c:v>
                </c:pt>
                <c:pt idx="98">
                  <c:v>8.8417909149239193E-2</c:v>
                </c:pt>
                <c:pt idx="99">
                  <c:v>8.7557080411463373E-2</c:v>
                </c:pt>
                <c:pt idx="100">
                  <c:v>9.769493026633036E-2</c:v>
                </c:pt>
                <c:pt idx="101">
                  <c:v>0.10562880914218642</c:v>
                </c:pt>
                <c:pt idx="102">
                  <c:v>0.11325639972082491</c:v>
                </c:pt>
                <c:pt idx="103">
                  <c:v>0.11167923460788054</c:v>
                </c:pt>
                <c:pt idx="104">
                  <c:v>0.11437292935974575</c:v>
                </c:pt>
                <c:pt idx="105">
                  <c:v>0.12506357207980656</c:v>
                </c:pt>
                <c:pt idx="106">
                  <c:v>0.12085758014623216</c:v>
                </c:pt>
                <c:pt idx="107">
                  <c:v>0.1304242211237725</c:v>
                </c:pt>
                <c:pt idx="108">
                  <c:v>0.12919362006464441</c:v>
                </c:pt>
                <c:pt idx="109">
                  <c:v>0.13828402182684529</c:v>
                </c:pt>
                <c:pt idx="110">
                  <c:v>0.14594421240105215</c:v>
                </c:pt>
                <c:pt idx="111">
                  <c:v>0.14320229431864506</c:v>
                </c:pt>
                <c:pt idx="112">
                  <c:v>0.14548413453807818</c:v>
                </c:pt>
                <c:pt idx="113">
                  <c:v>0.15165651381949519</c:v>
                </c:pt>
                <c:pt idx="114">
                  <c:v>0.15339506903631772</c:v>
                </c:pt>
                <c:pt idx="115">
                  <c:v>0.15461996238252285</c:v>
                </c:pt>
                <c:pt idx="116">
                  <c:v>0.16112809300862496</c:v>
                </c:pt>
                <c:pt idx="117">
                  <c:v>0.16814214964444552</c:v>
                </c:pt>
                <c:pt idx="118">
                  <c:v>0.1721965218174446</c:v>
                </c:pt>
                <c:pt idx="119">
                  <c:v>0.17265392093876764</c:v>
                </c:pt>
                <c:pt idx="120">
                  <c:v>0.16876042560853532</c:v>
                </c:pt>
                <c:pt idx="121">
                  <c:v>0.14701838045397309</c:v>
                </c:pt>
                <c:pt idx="122">
                  <c:v>0.17883626932762287</c:v>
                </c:pt>
                <c:pt idx="123">
                  <c:v>0.16461285754249433</c:v>
                </c:pt>
                <c:pt idx="124">
                  <c:v>0.172790475916905</c:v>
                </c:pt>
                <c:pt idx="125">
                  <c:v>0.17215372881185242</c:v>
                </c:pt>
                <c:pt idx="126">
                  <c:v>0.16908379411743835</c:v>
                </c:pt>
                <c:pt idx="127">
                  <c:v>0.17816961083866212</c:v>
                </c:pt>
                <c:pt idx="128">
                  <c:v>0.17910362727422391</c:v>
                </c:pt>
                <c:pt idx="129">
                  <c:v>0.18110567259326715</c:v>
                </c:pt>
                <c:pt idx="130">
                  <c:v>0.18865763944312519</c:v>
                </c:pt>
                <c:pt idx="131">
                  <c:v>0.19796564490163115</c:v>
                </c:pt>
                <c:pt idx="132">
                  <c:v>0.2010444274377523</c:v>
                </c:pt>
                <c:pt idx="133">
                  <c:v>0.20886963268948278</c:v>
                </c:pt>
                <c:pt idx="134">
                  <c:v>0.20976963972284679</c:v>
                </c:pt>
                <c:pt idx="135">
                  <c:v>0.21756594530748896</c:v>
                </c:pt>
                <c:pt idx="136">
                  <c:v>0.22354994652695925</c:v>
                </c:pt>
                <c:pt idx="137">
                  <c:v>0.22422208075631533</c:v>
                </c:pt>
                <c:pt idx="138">
                  <c:v>0.22580456432267138</c:v>
                </c:pt>
                <c:pt idx="139">
                  <c:v>0.23755552558878845</c:v>
                </c:pt>
                <c:pt idx="140">
                  <c:v>0.23575266797325445</c:v>
                </c:pt>
                <c:pt idx="141">
                  <c:v>0.23425543537675542</c:v>
                </c:pt>
                <c:pt idx="142">
                  <c:v>0.23718066208240596</c:v>
                </c:pt>
                <c:pt idx="143">
                  <c:v>0.24154728095263112</c:v>
                </c:pt>
                <c:pt idx="144">
                  <c:v>0.24654795759562398</c:v>
                </c:pt>
                <c:pt idx="145">
                  <c:v>0.24959634809088782</c:v>
                </c:pt>
                <c:pt idx="146">
                  <c:v>0.24854661767259367</c:v>
                </c:pt>
                <c:pt idx="147">
                  <c:v>0.25314996074585872</c:v>
                </c:pt>
                <c:pt idx="148">
                  <c:v>0.25579415780697734</c:v>
                </c:pt>
                <c:pt idx="149">
                  <c:v>0.26003264428464612</c:v>
                </c:pt>
                <c:pt idx="150">
                  <c:v>0.26181532137604036</c:v>
                </c:pt>
                <c:pt idx="151">
                  <c:v>0.26072317014811985</c:v>
                </c:pt>
                <c:pt idx="152">
                  <c:v>0.26396161332735146</c:v>
                </c:pt>
                <c:pt idx="153">
                  <c:v>0.24628866529728821</c:v>
                </c:pt>
                <c:pt idx="154">
                  <c:v>0.2588787371073038</c:v>
                </c:pt>
                <c:pt idx="155">
                  <c:v>0.25689606046180913</c:v>
                </c:pt>
                <c:pt idx="156">
                  <c:v>0.25706686522420386</c:v>
                </c:pt>
                <c:pt idx="157">
                  <c:v>0.25440555287174593</c:v>
                </c:pt>
                <c:pt idx="158">
                  <c:v>0.26002552072143104</c:v>
                </c:pt>
                <c:pt idx="159">
                  <c:v>0.25739725262848689</c:v>
                </c:pt>
                <c:pt idx="160">
                  <c:v>0.26232156026790032</c:v>
                </c:pt>
                <c:pt idx="161">
                  <c:v>0.25974399752424548</c:v>
                </c:pt>
                <c:pt idx="162">
                  <c:v>0.25502829166838614</c:v>
                </c:pt>
                <c:pt idx="163">
                  <c:v>0.26514562338653969</c:v>
                </c:pt>
                <c:pt idx="164">
                  <c:v>0.25479847197062844</c:v>
                </c:pt>
                <c:pt idx="165">
                  <c:v>0.25556205837703461</c:v>
                </c:pt>
                <c:pt idx="166">
                  <c:v>0.25432233506667523</c:v>
                </c:pt>
                <c:pt idx="167">
                  <c:v>0.25459004916154959</c:v>
                </c:pt>
                <c:pt idx="168">
                  <c:v>0.24939200404959783</c:v>
                </c:pt>
                <c:pt idx="169">
                  <c:v>0.26140395514525405</c:v>
                </c:pt>
                <c:pt idx="170">
                  <c:v>0.25581326682160754</c:v>
                </c:pt>
                <c:pt idx="171">
                  <c:v>0.24450827619890148</c:v>
                </c:pt>
                <c:pt idx="172">
                  <c:v>0.25809841274848511</c:v>
                </c:pt>
                <c:pt idx="173">
                  <c:v>0.25333730165835711</c:v>
                </c:pt>
                <c:pt idx="174">
                  <c:v>0.25256224003416294</c:v>
                </c:pt>
                <c:pt idx="175">
                  <c:v>0.24940227667890014</c:v>
                </c:pt>
                <c:pt idx="176">
                  <c:v>0.25225029718871217</c:v>
                </c:pt>
                <c:pt idx="177">
                  <c:v>0.25647272978852542</c:v>
                </c:pt>
                <c:pt idx="178">
                  <c:v>0.25466458124878955</c:v>
                </c:pt>
                <c:pt idx="179">
                  <c:v>0.25340325506045813</c:v>
                </c:pt>
                <c:pt idx="180">
                  <c:v>0.24745444349578372</c:v>
                </c:pt>
                <c:pt idx="181">
                  <c:v>0.25430392909965338</c:v>
                </c:pt>
                <c:pt idx="182">
                  <c:v>0.2556685397741767</c:v>
                </c:pt>
                <c:pt idx="183">
                  <c:v>0.25976270926926581</c:v>
                </c:pt>
                <c:pt idx="184">
                  <c:v>0.26431178613425321</c:v>
                </c:pt>
                <c:pt idx="185">
                  <c:v>0.26142826866064772</c:v>
                </c:pt>
                <c:pt idx="186">
                  <c:v>0.26400660016336119</c:v>
                </c:pt>
                <c:pt idx="187">
                  <c:v>0.26523660230654911</c:v>
                </c:pt>
                <c:pt idx="188">
                  <c:v>0.26702313366039498</c:v>
                </c:pt>
                <c:pt idx="189">
                  <c:v>0.27144472636084149</c:v>
                </c:pt>
                <c:pt idx="190">
                  <c:v>0.27233748928755452</c:v>
                </c:pt>
                <c:pt idx="191">
                  <c:v>0.27081214147694865</c:v>
                </c:pt>
                <c:pt idx="192">
                  <c:v>0.27198405875291809</c:v>
                </c:pt>
                <c:pt idx="193">
                  <c:v>0.27146333939401646</c:v>
                </c:pt>
                <c:pt idx="194">
                  <c:v>0.2694238017768773</c:v>
                </c:pt>
                <c:pt idx="195">
                  <c:v>0.26965709276767624</c:v>
                </c:pt>
                <c:pt idx="196">
                  <c:v>0.27011530331320222</c:v>
                </c:pt>
                <c:pt idx="197">
                  <c:v>0.2725476107694722</c:v>
                </c:pt>
                <c:pt idx="198">
                  <c:v>0.27099576566542294</c:v>
                </c:pt>
                <c:pt idx="199">
                  <c:v>0.27091392855288743</c:v>
                </c:pt>
                <c:pt idx="200">
                  <c:v>0.27101475696293997</c:v>
                </c:pt>
                <c:pt idx="201">
                  <c:v>0.27064121438337274</c:v>
                </c:pt>
                <c:pt idx="202">
                  <c:v>0.2778580932711654</c:v>
                </c:pt>
                <c:pt idx="203">
                  <c:v>0.2770606514273275</c:v>
                </c:pt>
                <c:pt idx="204">
                  <c:v>0.27145727713679713</c:v>
                </c:pt>
                <c:pt idx="205">
                  <c:v>0.26711565821882965</c:v>
                </c:pt>
                <c:pt idx="206">
                  <c:v>0.26470067282785514</c:v>
                </c:pt>
                <c:pt idx="207">
                  <c:v>0.26990270149045048</c:v>
                </c:pt>
                <c:pt idx="208">
                  <c:v>0.27118025031353654</c:v>
                </c:pt>
                <c:pt idx="209">
                  <c:v>0.26917475145436454</c:v>
                </c:pt>
                <c:pt idx="210">
                  <c:v>0.27102105031697721</c:v>
                </c:pt>
                <c:pt idx="211">
                  <c:v>0.2693181264531308</c:v>
                </c:pt>
                <c:pt idx="212">
                  <c:v>0.2715956869033036</c:v>
                </c:pt>
                <c:pt idx="213">
                  <c:v>0.27315045045498043</c:v>
                </c:pt>
                <c:pt idx="214">
                  <c:v>0.27722408041687752</c:v>
                </c:pt>
                <c:pt idx="215">
                  <c:v>0.27494103349692312</c:v>
                </c:pt>
                <c:pt idx="216">
                  <c:v>0.27082483250666001</c:v>
                </c:pt>
                <c:pt idx="217">
                  <c:v>0.27049408674639386</c:v>
                </c:pt>
                <c:pt idx="218">
                  <c:v>0.27315672854101147</c:v>
                </c:pt>
                <c:pt idx="219">
                  <c:v>0.27767332942158318</c:v>
                </c:pt>
                <c:pt idx="220">
                  <c:v>0.27905385299664398</c:v>
                </c:pt>
                <c:pt idx="221">
                  <c:v>0.28000836543217678</c:v>
                </c:pt>
                <c:pt idx="222">
                  <c:v>0.28372670149858781</c:v>
                </c:pt>
                <c:pt idx="223">
                  <c:v>0.29075307797965655</c:v>
                </c:pt>
                <c:pt idx="224">
                  <c:v>0.29095109385837414</c:v>
                </c:pt>
                <c:pt idx="225">
                  <c:v>0.29196883048694899</c:v>
                </c:pt>
                <c:pt idx="226">
                  <c:v>0.29001971080507083</c:v>
                </c:pt>
                <c:pt idx="227">
                  <c:v>0.2932916554002547</c:v>
                </c:pt>
                <c:pt idx="228">
                  <c:v>0.29894450374940518</c:v>
                </c:pt>
                <c:pt idx="229">
                  <c:v>0.30359026665782296</c:v>
                </c:pt>
                <c:pt idx="230">
                  <c:v>0.30132336964943951</c:v>
                </c:pt>
                <c:pt idx="231">
                  <c:v>0.30327246059244239</c:v>
                </c:pt>
                <c:pt idx="232">
                  <c:v>0.30528604377495694</c:v>
                </c:pt>
                <c:pt idx="233">
                  <c:v>0.30895551466379834</c:v>
                </c:pt>
                <c:pt idx="234">
                  <c:v>0.31368191602113216</c:v>
                </c:pt>
                <c:pt idx="235">
                  <c:v>0.31675580585663421</c:v>
                </c:pt>
                <c:pt idx="236">
                  <c:v>0.32009494202787914</c:v>
                </c:pt>
                <c:pt idx="237">
                  <c:v>0.31984464723498851</c:v>
                </c:pt>
                <c:pt idx="238">
                  <c:v>0.31878641729336965</c:v>
                </c:pt>
                <c:pt idx="239">
                  <c:v>0.32031024653953244</c:v>
                </c:pt>
                <c:pt idx="240">
                  <c:v>0.31214611900590761</c:v>
                </c:pt>
                <c:pt idx="241">
                  <c:v>0.31585514419787941</c:v>
                </c:pt>
                <c:pt idx="242">
                  <c:v>0.31744099983366847</c:v>
                </c:pt>
                <c:pt idx="243">
                  <c:v>0.32507627098357461</c:v>
                </c:pt>
                <c:pt idx="244">
                  <c:v>0.32589163258138609</c:v>
                </c:pt>
                <c:pt idx="245">
                  <c:v>0.3302863797026816</c:v>
                </c:pt>
                <c:pt idx="246">
                  <c:v>0.32305094217729846</c:v>
                </c:pt>
                <c:pt idx="247">
                  <c:v>0.32553566179211302</c:v>
                </c:pt>
                <c:pt idx="248">
                  <c:v>0.32989909635513115</c:v>
                </c:pt>
                <c:pt idx="249">
                  <c:v>0.33120988815500874</c:v>
                </c:pt>
                <c:pt idx="250">
                  <c:v>0.32586671846736137</c:v>
                </c:pt>
                <c:pt idx="251">
                  <c:v>0.33076843834085312</c:v>
                </c:pt>
                <c:pt idx="252">
                  <c:v>0.33099072073843949</c:v>
                </c:pt>
                <c:pt idx="253">
                  <c:v>0.33261587096035372</c:v>
                </c:pt>
                <c:pt idx="254">
                  <c:v>0.33510121529696257</c:v>
                </c:pt>
                <c:pt idx="255">
                  <c:v>0.32873116369095823</c:v>
                </c:pt>
                <c:pt idx="256">
                  <c:v>0.33560347619004349</c:v>
                </c:pt>
                <c:pt idx="257">
                  <c:v>0.32599137550423807</c:v>
                </c:pt>
                <c:pt idx="258">
                  <c:v>0.32811083375415273</c:v>
                </c:pt>
                <c:pt idx="259">
                  <c:v>0.32331100721697115</c:v>
                </c:pt>
                <c:pt idx="260">
                  <c:v>0.32129035182849042</c:v>
                </c:pt>
                <c:pt idx="261">
                  <c:v>0.32075385970124204</c:v>
                </c:pt>
                <c:pt idx="262">
                  <c:v>0.3197173052700415</c:v>
                </c:pt>
                <c:pt idx="263">
                  <c:v>0.32188533000154762</c:v>
                </c:pt>
                <c:pt idx="264">
                  <c:v>0.32669591570570877</c:v>
                </c:pt>
                <c:pt idx="265">
                  <c:v>0.32989207644550111</c:v>
                </c:pt>
                <c:pt idx="266">
                  <c:v>0.33075102040619742</c:v>
                </c:pt>
                <c:pt idx="267">
                  <c:v>0.33189154001740828</c:v>
                </c:pt>
                <c:pt idx="268">
                  <c:v>0.33712230224368622</c:v>
                </c:pt>
                <c:pt idx="269">
                  <c:v>0.33736470879414004</c:v>
                </c:pt>
                <c:pt idx="270">
                  <c:v>0.33739775260477467</c:v>
                </c:pt>
                <c:pt idx="271">
                  <c:v>0.34273269463543476</c:v>
                </c:pt>
                <c:pt idx="272">
                  <c:v>0.34301346574615299</c:v>
                </c:pt>
                <c:pt idx="273">
                  <c:v>0.344326474653742</c:v>
                </c:pt>
                <c:pt idx="274">
                  <c:v>0.34009468907679441</c:v>
                </c:pt>
                <c:pt idx="275">
                  <c:v>0.34003613001964705</c:v>
                </c:pt>
                <c:pt idx="276">
                  <c:v>0.33957041705571389</c:v>
                </c:pt>
                <c:pt idx="277">
                  <c:v>0.33508041702262759</c:v>
                </c:pt>
                <c:pt idx="278">
                  <c:v>0.34279095242488244</c:v>
                </c:pt>
                <c:pt idx="279">
                  <c:v>0.34293266478041673</c:v>
                </c:pt>
                <c:pt idx="280">
                  <c:v>0.34255939653268053</c:v>
                </c:pt>
                <c:pt idx="281">
                  <c:v>0.34078113281605016</c:v>
                </c:pt>
                <c:pt idx="282">
                  <c:v>0.33454063125017464</c:v>
                </c:pt>
                <c:pt idx="283">
                  <c:v>0.334554289423451</c:v>
                </c:pt>
                <c:pt idx="284">
                  <c:v>0.338204754071187</c:v>
                </c:pt>
                <c:pt idx="285">
                  <c:v>0.33961393198288636</c:v>
                </c:pt>
                <c:pt idx="286">
                  <c:v>0.34559596986483476</c:v>
                </c:pt>
                <c:pt idx="287">
                  <c:v>0.35429972394514864</c:v>
                </c:pt>
                <c:pt idx="288">
                  <c:v>0.35846796728177566</c:v>
                </c:pt>
                <c:pt idx="289">
                  <c:v>0.36522247908884498</c:v>
                </c:pt>
                <c:pt idx="290">
                  <c:v>0.37875869576428078</c:v>
                </c:pt>
                <c:pt idx="291">
                  <c:v>0.38053611650311403</c:v>
                </c:pt>
                <c:pt idx="292">
                  <c:v>0.37882636289499549</c:v>
                </c:pt>
                <c:pt idx="293">
                  <c:v>0.38046086111295185</c:v>
                </c:pt>
                <c:pt idx="294">
                  <c:v>0.38338423427880786</c:v>
                </c:pt>
                <c:pt idx="295">
                  <c:v>0.38825565434890197</c:v>
                </c:pt>
                <c:pt idx="296">
                  <c:v>0.38961252727356332</c:v>
                </c:pt>
                <c:pt idx="297">
                  <c:v>0.39030190043076951</c:v>
                </c:pt>
                <c:pt idx="298">
                  <c:v>0.39744607491243888</c:v>
                </c:pt>
                <c:pt idx="299">
                  <c:v>0.39566423868703371</c:v>
                </c:pt>
                <c:pt idx="300">
                  <c:v>0.39322788106062334</c:v>
                </c:pt>
                <c:pt idx="301">
                  <c:v>0.39531136727464666</c:v>
                </c:pt>
                <c:pt idx="302">
                  <c:v>0.4025246132087148</c:v>
                </c:pt>
                <c:pt idx="303">
                  <c:v>0.4158442375168776</c:v>
                </c:pt>
                <c:pt idx="304">
                  <c:v>0.42338167312815544</c:v>
                </c:pt>
                <c:pt idx="305">
                  <c:v>0.43361567952807611</c:v>
                </c:pt>
                <c:pt idx="306">
                  <c:v>0.43314144540170285</c:v>
                </c:pt>
                <c:pt idx="307">
                  <c:v>0.43549514421011359</c:v>
                </c:pt>
              </c:numCache>
            </c:numRef>
          </c:val>
          <c:smooth val="0"/>
          <c:extLst>
            <c:ext xmlns:c16="http://schemas.microsoft.com/office/drawing/2014/chart" uri="{C3380CC4-5D6E-409C-BE32-E72D297353CC}">
              <c16:uniqueId val="{00000002-EB75-49B0-A021-655B266DA02F}"/>
            </c:ext>
          </c:extLst>
        </c:ser>
        <c:dLbls>
          <c:showLegendKey val="0"/>
          <c:showVal val="0"/>
          <c:showCatName val="0"/>
          <c:showSerName val="0"/>
          <c:showPercent val="0"/>
          <c:showBubbleSize val="0"/>
        </c:dLbls>
        <c:smooth val="0"/>
        <c:axId val="594478952"/>
        <c:axId val="594479936"/>
      </c:lineChart>
      <c:catAx>
        <c:axId val="594478952"/>
        <c:scaling>
          <c:orientation val="minMax"/>
        </c:scaling>
        <c:delete val="0"/>
        <c:axPos val="b"/>
        <c:numFmt formatCode="General" sourceLinked="1"/>
        <c:majorTickMark val="in"/>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pt-BR"/>
          </a:p>
        </c:txPr>
        <c:crossAx val="594479936"/>
        <c:crossesAt val="-0.15000000000000002"/>
        <c:auto val="1"/>
        <c:lblAlgn val="ctr"/>
        <c:lblOffset val="100"/>
        <c:tickLblSkip val="19"/>
        <c:tickMarkSkip val="10"/>
        <c:noMultiLvlLbl val="1"/>
      </c:catAx>
      <c:valAx>
        <c:axId val="594479936"/>
        <c:scaling>
          <c:orientation val="minMax"/>
          <c:max val="0.48000000000000004"/>
          <c:min val="-0.13500000000000001"/>
        </c:scaling>
        <c:delete val="0"/>
        <c:axPos val="l"/>
        <c:majorGridlines>
          <c:spPr>
            <a:ln w="9525" cap="flat" cmpd="sng" algn="ctr">
              <a:solidFill>
                <a:schemeClr val="tx1">
                  <a:lumMod val="15000"/>
                  <a:lumOff val="85000"/>
                </a:schemeClr>
              </a:solidFill>
              <a:round/>
            </a:ln>
            <a:effectLst/>
          </c:spPr>
        </c:majorGridlines>
        <c:numFmt formatCode="0%" sourceLinked="0"/>
        <c:majorTickMark val="in"/>
        <c:minorTickMark val="none"/>
        <c:tickLblPos val="nextTo"/>
        <c:spPr>
          <a:noFill/>
          <a:ln>
            <a:solidFill>
              <a:schemeClr val="tx1"/>
            </a:solidFill>
          </a:ln>
          <a:effectLst/>
        </c:spPr>
        <c:txPr>
          <a:bodyPr rot="0" spcFirstLastPara="1" vertOverflow="ellipsis" wrap="square" anchor="ctr" anchorCtr="1"/>
          <a:lstStyle/>
          <a:p>
            <a:pPr>
              <a:defRPr sz="600" b="0" i="0" u="none" strike="noStrike" kern="1200" baseline="0">
                <a:solidFill>
                  <a:schemeClr val="tx1">
                    <a:lumMod val="65000"/>
                    <a:lumOff val="35000"/>
                  </a:schemeClr>
                </a:solidFill>
                <a:latin typeface="+mn-lt"/>
                <a:ea typeface="+mn-ea"/>
                <a:cs typeface="+mn-cs"/>
              </a:defRPr>
            </a:pPr>
            <a:endParaRPr lang="pt-BR"/>
          </a:p>
        </c:txPr>
        <c:crossAx val="594478952"/>
        <c:crossesAt val="1"/>
        <c:crossBetween val="between"/>
        <c:majorUnit val="6.0000000000000012E-2"/>
      </c:valAx>
      <c:spPr>
        <a:noFill/>
        <a:ln>
          <a:noFill/>
        </a:ln>
        <a:effectLst/>
      </c:spPr>
    </c:plotArea>
    <c:legend>
      <c:legendPos val="b"/>
      <c:overlay val="0"/>
      <c:spPr>
        <a:noFill/>
        <a:ln>
          <a:noFill/>
        </a:ln>
        <a:effectLst/>
      </c:spPr>
      <c:txPr>
        <a:bodyPr rot="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chart>
  <c:spPr>
    <a:solidFill>
      <a:schemeClr val="bg1"/>
    </a:solidFill>
    <a:ln w="9525" cap="flat" cmpd="sng" algn="ctr">
      <a:noFill/>
      <a:round/>
    </a:ln>
    <a:effectLst/>
  </c:spPr>
  <c:txPr>
    <a:bodyPr/>
    <a:lstStyle/>
    <a:p>
      <a:pPr>
        <a:defRPr sz="600"/>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pt-BR" sz="1200"/>
              <a:t>Atribuição de Resultados</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pt-BR"/>
        </a:p>
      </c:txPr>
    </c:title>
    <c:autoTitleDeleted val="0"/>
    <c:view3D>
      <c:rotX val="50"/>
      <c:rotY val="320"/>
      <c:depthPercent val="100"/>
      <c:rAngAx val="0"/>
      <c:perspective val="2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spPr>
            <a:ln>
              <a:noFill/>
            </a:ln>
          </c:spPr>
          <c:dPt>
            <c:idx val="0"/>
            <c:bubble3D val="0"/>
            <c:spPr>
              <a:solidFill>
                <a:srgbClr val="7491A3"/>
              </a:solidFill>
              <a:ln w="25400">
                <a:noFill/>
              </a:ln>
              <a:effectLst/>
              <a:sp3d/>
            </c:spPr>
            <c:extLst>
              <c:ext xmlns:c16="http://schemas.microsoft.com/office/drawing/2014/chart" uri="{C3380CC4-5D6E-409C-BE32-E72D297353CC}">
                <c16:uniqueId val="{00000001-FAB8-4460-AE6D-10B278D1C99D}"/>
              </c:ext>
            </c:extLst>
          </c:dPt>
          <c:dPt>
            <c:idx val="1"/>
            <c:bubble3D val="0"/>
            <c:spPr>
              <a:solidFill>
                <a:srgbClr val="003060"/>
              </a:solidFill>
              <a:ln w="25400">
                <a:noFill/>
              </a:ln>
              <a:effectLst/>
              <a:sp3d/>
            </c:spPr>
            <c:extLst>
              <c:ext xmlns:c16="http://schemas.microsoft.com/office/drawing/2014/chart" uri="{C3380CC4-5D6E-409C-BE32-E72D297353CC}">
                <c16:uniqueId val="{00000003-FAB8-4460-AE6D-10B278D1C99D}"/>
              </c:ext>
            </c:extLst>
          </c:dPt>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pt-BR"/>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'Gráficos e Dashs'!$B$55:$B$56</c:f>
              <c:strCache>
                <c:ptCount val="2"/>
                <c:pt idx="0">
                  <c:v>Ações e ETFs</c:v>
                </c:pt>
                <c:pt idx="1">
                  <c:v>FIIS</c:v>
                </c:pt>
              </c:strCache>
            </c:strRef>
          </c:cat>
          <c:val>
            <c:numRef>
              <c:f>'Gráficos e Dashs'!$D$55:$D$56</c:f>
              <c:numCache>
                <c:formatCode>0.00%</c:formatCode>
                <c:ptCount val="2"/>
                <c:pt idx="0">
                  <c:v>1.9125250000000003E-2</c:v>
                </c:pt>
                <c:pt idx="1">
                  <c:v>0.98087475000000002</c:v>
                </c:pt>
              </c:numCache>
            </c:numRef>
          </c:val>
          <c:extLst>
            <c:ext xmlns:c16="http://schemas.microsoft.com/office/drawing/2014/chart" uri="{C3380CC4-5D6E-409C-BE32-E72D297353CC}">
              <c16:uniqueId val="{00000004-FAB8-4460-AE6D-10B278D1C99D}"/>
            </c:ext>
          </c:extLst>
        </c:ser>
        <c:dLbls>
          <c:dLblPos val="outEnd"/>
          <c:showLegendKey val="0"/>
          <c:showVal val="1"/>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chart>
  <c:spPr>
    <a:noFill/>
    <a:ln>
      <a:noFill/>
    </a:ln>
    <a:effectLst/>
  </c:spPr>
  <c:txPr>
    <a:bodyPr/>
    <a:lstStyle/>
    <a:p>
      <a:pPr>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pt-BR"/>
              <a:t>Clique para editar o título Mestre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F4BBE0F8-4116-4C86-A63B-727223AE57AD}" type="datetimeFigureOut">
              <a:rPr lang="pt-BR" smtClean="0"/>
              <a:t>21/01/2026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DAE70A0-6E04-4496-94F7-24239C4FE5B7}" type="slidenum">
              <a:rPr lang="pt-BR" smtClean="0"/>
              <a:t>‹nº›</a:t>
            </a:fld>
            <a:endParaRPr lang="pt-BR"/>
          </a:p>
        </p:txBody>
      </p:sp>
    </p:spTree>
    <p:extLst>
      <p:ext uri="{BB962C8B-B14F-4D97-AF65-F5344CB8AC3E}">
        <p14:creationId xmlns:p14="http://schemas.microsoft.com/office/powerpoint/2010/main" val="2750089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F4BBE0F8-4116-4C86-A63B-727223AE57AD}" type="datetimeFigureOut">
              <a:rPr lang="pt-BR" smtClean="0"/>
              <a:t>21/01/2026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DAE70A0-6E04-4496-94F7-24239C4FE5B7}" type="slidenum">
              <a:rPr lang="pt-BR" smtClean="0"/>
              <a:t>‹nº›</a:t>
            </a:fld>
            <a:endParaRPr lang="pt-BR"/>
          </a:p>
        </p:txBody>
      </p:sp>
    </p:spTree>
    <p:extLst>
      <p:ext uri="{BB962C8B-B14F-4D97-AF65-F5344CB8AC3E}">
        <p14:creationId xmlns:p14="http://schemas.microsoft.com/office/powerpoint/2010/main" val="2581481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pt-BR"/>
              <a:t>Clique para editar o título Mestre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F4BBE0F8-4116-4C86-A63B-727223AE57AD}" type="datetimeFigureOut">
              <a:rPr lang="pt-BR" smtClean="0"/>
              <a:t>21/01/2026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DAE70A0-6E04-4496-94F7-24239C4FE5B7}" type="slidenum">
              <a:rPr lang="pt-BR" smtClean="0"/>
              <a:t>‹nº›</a:t>
            </a:fld>
            <a:endParaRPr lang="pt-BR"/>
          </a:p>
        </p:txBody>
      </p:sp>
    </p:spTree>
    <p:extLst>
      <p:ext uri="{BB962C8B-B14F-4D97-AF65-F5344CB8AC3E}">
        <p14:creationId xmlns:p14="http://schemas.microsoft.com/office/powerpoint/2010/main" val="3398620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F4BBE0F8-4116-4C86-A63B-727223AE57AD}" type="datetimeFigureOut">
              <a:rPr lang="pt-BR" smtClean="0"/>
              <a:t>21/01/2026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DAE70A0-6E04-4496-94F7-24239C4FE5B7}" type="slidenum">
              <a:rPr lang="pt-BR" smtClean="0"/>
              <a:t>‹nº›</a:t>
            </a:fld>
            <a:endParaRPr lang="pt-BR"/>
          </a:p>
        </p:txBody>
      </p:sp>
    </p:spTree>
    <p:extLst>
      <p:ext uri="{BB962C8B-B14F-4D97-AF65-F5344CB8AC3E}">
        <p14:creationId xmlns:p14="http://schemas.microsoft.com/office/powerpoint/2010/main" val="3152338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4" name="Content Placeholder 3"/>
          <p:cNvSpPr>
            <a:spLocks noGrp="1"/>
          </p:cNvSpPr>
          <p:nvPr>
            <p:ph sz="half" idx="2"/>
          </p:nvPr>
        </p:nvSpPr>
        <p:spPr>
          <a:xfrm>
            <a:off x="472381" y="3618442"/>
            <a:ext cx="2901255" cy="532218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6" name="Content Placeholder 5"/>
          <p:cNvSpPr>
            <a:spLocks noGrp="1"/>
          </p:cNvSpPr>
          <p:nvPr>
            <p:ph sz="quarter" idx="4"/>
          </p:nvPr>
        </p:nvSpPr>
        <p:spPr>
          <a:xfrm>
            <a:off x="3471863" y="3618442"/>
            <a:ext cx="2915543" cy="532218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F4BBE0F8-4116-4C86-A63B-727223AE57AD}" type="datetimeFigureOut">
              <a:rPr lang="pt-BR" smtClean="0"/>
              <a:t>21/01/2026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7DAE70A0-6E04-4496-94F7-24239C4FE5B7}" type="slidenum">
              <a:rPr lang="pt-BR" smtClean="0"/>
              <a:t>‹nº›</a:t>
            </a:fld>
            <a:endParaRPr lang="pt-BR"/>
          </a:p>
        </p:txBody>
      </p:sp>
    </p:spTree>
    <p:extLst>
      <p:ext uri="{BB962C8B-B14F-4D97-AF65-F5344CB8AC3E}">
        <p14:creationId xmlns:p14="http://schemas.microsoft.com/office/powerpoint/2010/main" val="2486676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F4BBE0F8-4116-4C86-A63B-727223AE57AD}" type="datetimeFigureOut">
              <a:rPr lang="pt-BR" smtClean="0"/>
              <a:t>21/01/2026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7DAE70A0-6E04-4496-94F7-24239C4FE5B7}" type="slidenum">
              <a:rPr lang="pt-BR" smtClean="0"/>
              <a:t>‹nº›</a:t>
            </a:fld>
            <a:endParaRPr lang="pt-BR"/>
          </a:p>
        </p:txBody>
      </p:sp>
    </p:spTree>
    <p:extLst>
      <p:ext uri="{BB962C8B-B14F-4D97-AF65-F5344CB8AC3E}">
        <p14:creationId xmlns:p14="http://schemas.microsoft.com/office/powerpoint/2010/main" val="3695970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BBE0F8-4116-4C86-A63B-727223AE57AD}" type="datetimeFigureOut">
              <a:rPr lang="pt-BR" smtClean="0"/>
              <a:t>21/01/2026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7DAE70A0-6E04-4496-94F7-24239C4FE5B7}" type="slidenum">
              <a:rPr lang="pt-BR" smtClean="0"/>
              <a:t>‹nº›</a:t>
            </a:fld>
            <a:endParaRPr lang="pt-BR"/>
          </a:p>
        </p:txBody>
      </p:sp>
    </p:spTree>
    <p:extLst>
      <p:ext uri="{BB962C8B-B14F-4D97-AF65-F5344CB8AC3E}">
        <p14:creationId xmlns:p14="http://schemas.microsoft.com/office/powerpoint/2010/main" val="1838102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pt-BR"/>
              <a:t>Clique para editar o título Mestre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F4BBE0F8-4116-4C86-A63B-727223AE57AD}" type="datetimeFigureOut">
              <a:rPr lang="pt-BR" smtClean="0"/>
              <a:t>21/01/2026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DAE70A0-6E04-4496-94F7-24239C4FE5B7}" type="slidenum">
              <a:rPr lang="pt-BR" smtClean="0"/>
              <a:t>‹nº›</a:t>
            </a:fld>
            <a:endParaRPr lang="pt-BR"/>
          </a:p>
        </p:txBody>
      </p:sp>
    </p:spTree>
    <p:extLst>
      <p:ext uri="{BB962C8B-B14F-4D97-AF65-F5344CB8AC3E}">
        <p14:creationId xmlns:p14="http://schemas.microsoft.com/office/powerpoint/2010/main" val="2377887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pt-BR"/>
              <a:t>Clique no ícone para adicionar uma imagem</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F4BBE0F8-4116-4C86-A63B-727223AE57AD}" type="datetimeFigureOut">
              <a:rPr lang="pt-BR" smtClean="0"/>
              <a:t>21/01/2026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DAE70A0-6E04-4496-94F7-24239C4FE5B7}" type="slidenum">
              <a:rPr lang="pt-BR" smtClean="0"/>
              <a:t>‹nº›</a:t>
            </a:fld>
            <a:endParaRPr lang="pt-BR"/>
          </a:p>
        </p:txBody>
      </p:sp>
    </p:spTree>
    <p:extLst>
      <p:ext uri="{BB962C8B-B14F-4D97-AF65-F5344CB8AC3E}">
        <p14:creationId xmlns:p14="http://schemas.microsoft.com/office/powerpoint/2010/main" val="3846591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F4BBE0F8-4116-4C86-A63B-727223AE57AD}" type="datetimeFigureOut">
              <a:rPr lang="pt-BR" smtClean="0"/>
              <a:t>21/01/2026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DAE70A0-6E04-4496-94F7-24239C4FE5B7}" type="slidenum">
              <a:rPr lang="pt-BR" smtClean="0"/>
              <a:t>‹nº›</a:t>
            </a:fld>
            <a:endParaRPr lang="pt-BR"/>
          </a:p>
        </p:txBody>
      </p:sp>
    </p:spTree>
    <p:extLst>
      <p:ext uri="{BB962C8B-B14F-4D97-AF65-F5344CB8AC3E}">
        <p14:creationId xmlns:p14="http://schemas.microsoft.com/office/powerpoint/2010/main" val="1199661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F4BBE0F8-4116-4C86-A63B-727223AE57AD}" type="datetimeFigureOut">
              <a:rPr lang="pt-BR" smtClean="0"/>
              <a:t>21/01/2026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DAE70A0-6E04-4496-94F7-24239C4FE5B7}" type="slidenum">
              <a:rPr lang="pt-BR" smtClean="0"/>
              <a:t>‹nº›</a:t>
            </a:fld>
            <a:endParaRPr lang="pt-BR"/>
          </a:p>
        </p:txBody>
      </p:sp>
    </p:spTree>
    <p:extLst>
      <p:ext uri="{BB962C8B-B14F-4D97-AF65-F5344CB8AC3E}">
        <p14:creationId xmlns:p14="http://schemas.microsoft.com/office/powerpoint/2010/main" val="693742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F4BBE0F8-4116-4C86-A63B-727223AE57AD}" type="datetimeFigureOut">
              <a:rPr lang="pt-BR" smtClean="0"/>
              <a:t>21/01/2026</a:t>
            </a:fld>
            <a:endParaRPr lang="pt-BR"/>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7DAE70A0-6E04-4496-94F7-24239C4FE5B7}" type="slidenum">
              <a:rPr lang="pt-BR" smtClean="0"/>
              <a:t>‹nº›</a:t>
            </a:fld>
            <a:endParaRPr lang="pt-BR"/>
          </a:p>
        </p:txBody>
      </p:sp>
    </p:spTree>
    <p:extLst>
      <p:ext uri="{BB962C8B-B14F-4D97-AF65-F5344CB8AC3E}">
        <p14:creationId xmlns:p14="http://schemas.microsoft.com/office/powerpoint/2010/main" val="369595261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7.svg"/><Relationship Id="rId3" Type="http://schemas.openxmlformats.org/officeDocument/2006/relationships/image" Target="../media/image1.jpg"/><Relationship Id="rId7" Type="http://schemas.openxmlformats.org/officeDocument/2006/relationships/image" Target="../media/image3.png"/><Relationship Id="rId12" Type="http://schemas.openxmlformats.org/officeDocument/2006/relationships/image" Target="../media/image6.png"/><Relationship Id="rId2" Type="http://schemas.openxmlformats.org/officeDocument/2006/relationships/chart" Target="../charts/chart1.xml"/><Relationship Id="rId1" Type="http://schemas.openxmlformats.org/officeDocument/2006/relationships/slideLayout" Target="../slideLayouts/slideLayout1.xml"/><Relationship Id="rId6" Type="http://schemas.openxmlformats.org/officeDocument/2006/relationships/hyperlink" Target="https://www.instagram.com/matheusbsanches/" TargetMode="External"/><Relationship Id="rId11" Type="http://schemas.openxmlformats.org/officeDocument/2006/relationships/image" Target="../media/image5.png"/><Relationship Id="rId5" Type="http://schemas.openxmlformats.org/officeDocument/2006/relationships/hyperlink" Target="https://www.up-gestora.com.br/" TargetMode="External"/><Relationship Id="rId10" Type="http://schemas.openxmlformats.org/officeDocument/2006/relationships/image" Target="../media/image4.png"/><Relationship Id="rId4" Type="http://schemas.openxmlformats.org/officeDocument/2006/relationships/image" Target="../media/image2.jpeg"/><Relationship Id="rId9" Type="http://schemas.openxmlformats.org/officeDocument/2006/relationships/hyperlink" Target="https://wa.me/5543991393517?text=Ol%C3%A1%2C%20gostaria%20de%20investir%20melhor!" TargetMode="External"/><Relationship Id="rId1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 name="Gráfico 59">
            <a:extLst>
              <a:ext uri="{FF2B5EF4-FFF2-40B4-BE49-F238E27FC236}">
                <a16:creationId xmlns:a16="http://schemas.microsoft.com/office/drawing/2014/main" id="{256F60F5-F684-4E41-85DC-585CB35F08C9}"/>
              </a:ext>
            </a:extLst>
          </p:cNvPr>
          <p:cNvGraphicFramePr>
            <a:graphicFrameLocks/>
          </p:cNvGraphicFramePr>
          <p:nvPr>
            <p:extLst>
              <p:ext uri="{D42A27DB-BD31-4B8C-83A1-F6EECF244321}">
                <p14:modId xmlns:p14="http://schemas.microsoft.com/office/powerpoint/2010/main" val="276872132"/>
              </p:ext>
            </p:extLst>
          </p:nvPr>
        </p:nvGraphicFramePr>
        <p:xfrm>
          <a:off x="2152677" y="2408498"/>
          <a:ext cx="4574750" cy="2285001"/>
        </p:xfrm>
        <a:graphic>
          <a:graphicData uri="http://schemas.openxmlformats.org/drawingml/2006/chart">
            <c:chart xmlns:c="http://schemas.openxmlformats.org/drawingml/2006/chart" xmlns:r="http://schemas.openxmlformats.org/officeDocument/2006/relationships" r:id="rId2"/>
          </a:graphicData>
        </a:graphic>
      </p:graphicFrame>
      <p:sp>
        <p:nvSpPr>
          <p:cNvPr id="44" name="Retângulo 43">
            <a:extLst>
              <a:ext uri="{FF2B5EF4-FFF2-40B4-BE49-F238E27FC236}">
                <a16:creationId xmlns:a16="http://schemas.microsoft.com/office/drawing/2014/main" id="{09FB6D46-9929-499A-B3AC-F5BB81A45907}"/>
              </a:ext>
            </a:extLst>
          </p:cNvPr>
          <p:cNvSpPr/>
          <p:nvPr/>
        </p:nvSpPr>
        <p:spPr>
          <a:xfrm>
            <a:off x="0" y="9220088"/>
            <a:ext cx="6858000" cy="685912"/>
          </a:xfrm>
          <a:prstGeom prst="rect">
            <a:avLst/>
          </a:prstGeom>
          <a:solidFill>
            <a:srgbClr val="003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a:p>
        </p:txBody>
      </p:sp>
      <p:sp>
        <p:nvSpPr>
          <p:cNvPr id="45" name="Retângulo: Cantos Arredondados 44">
            <a:extLst>
              <a:ext uri="{FF2B5EF4-FFF2-40B4-BE49-F238E27FC236}">
                <a16:creationId xmlns:a16="http://schemas.microsoft.com/office/drawing/2014/main" id="{4BEABDD5-DCA5-4E37-B7E0-13136183E56D}"/>
              </a:ext>
            </a:extLst>
          </p:cNvPr>
          <p:cNvSpPr/>
          <p:nvPr/>
        </p:nvSpPr>
        <p:spPr>
          <a:xfrm>
            <a:off x="0" y="8909065"/>
            <a:ext cx="6858000" cy="869033"/>
          </a:xfrm>
          <a:prstGeom prst="roundRect">
            <a:avLst>
              <a:gd name="adj" fmla="val 3335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Cantos Arredondados 6">
            <a:extLst>
              <a:ext uri="{FF2B5EF4-FFF2-40B4-BE49-F238E27FC236}">
                <a16:creationId xmlns:a16="http://schemas.microsoft.com/office/drawing/2014/main" id="{0208805D-AA86-406C-B9C1-1E29688C904D}"/>
              </a:ext>
            </a:extLst>
          </p:cNvPr>
          <p:cNvSpPr/>
          <p:nvPr/>
        </p:nvSpPr>
        <p:spPr>
          <a:xfrm>
            <a:off x="91521" y="2075886"/>
            <a:ext cx="2021844" cy="7179392"/>
          </a:xfrm>
          <a:prstGeom prst="roundRect">
            <a:avLst>
              <a:gd name="adj" fmla="val 6303"/>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Retângulo 39">
            <a:extLst>
              <a:ext uri="{FF2B5EF4-FFF2-40B4-BE49-F238E27FC236}">
                <a16:creationId xmlns:a16="http://schemas.microsoft.com/office/drawing/2014/main" id="{F1C42551-88F2-473E-91C0-A993A39541B5}"/>
              </a:ext>
            </a:extLst>
          </p:cNvPr>
          <p:cNvSpPr/>
          <p:nvPr/>
        </p:nvSpPr>
        <p:spPr>
          <a:xfrm>
            <a:off x="0" y="-12141"/>
            <a:ext cx="6858000" cy="1003662"/>
          </a:xfrm>
          <a:prstGeom prst="rect">
            <a:avLst/>
          </a:prstGeom>
          <a:solidFill>
            <a:srgbClr val="003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a:p>
        </p:txBody>
      </p:sp>
      <p:sp>
        <p:nvSpPr>
          <p:cNvPr id="51" name="Retângulo 50">
            <a:extLst>
              <a:ext uri="{FF2B5EF4-FFF2-40B4-BE49-F238E27FC236}">
                <a16:creationId xmlns:a16="http://schemas.microsoft.com/office/drawing/2014/main" id="{1CF6FCBB-5B4F-41CF-9C29-9200C02F7113}"/>
              </a:ext>
            </a:extLst>
          </p:cNvPr>
          <p:cNvSpPr/>
          <p:nvPr/>
        </p:nvSpPr>
        <p:spPr>
          <a:xfrm>
            <a:off x="5136308" y="72829"/>
            <a:ext cx="1646738" cy="438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pt-BR" sz="900" dirty="0">
                <a:solidFill>
                  <a:schemeClr val="bg1"/>
                </a:solidFill>
                <a:latin typeface="Quicksand Medium" pitchFamily="2" charset="0"/>
                <a:ea typeface="+mj-ea"/>
                <a:cs typeface="+mj-cs"/>
              </a:rPr>
              <a:t>Dezembro/25</a:t>
            </a:r>
          </a:p>
          <a:p>
            <a:pPr algn="r"/>
            <a:r>
              <a:rPr lang="pt-BR" sz="2000" dirty="0"/>
              <a:t>+6,00%</a:t>
            </a:r>
          </a:p>
        </p:txBody>
      </p:sp>
      <p:sp>
        <p:nvSpPr>
          <p:cNvPr id="41" name="Retângulo: Cantos Arredondados 40">
            <a:extLst>
              <a:ext uri="{FF2B5EF4-FFF2-40B4-BE49-F238E27FC236}">
                <a16:creationId xmlns:a16="http://schemas.microsoft.com/office/drawing/2014/main" id="{D6D4E935-47F6-4B2F-8F96-84530F7F9C90}"/>
              </a:ext>
            </a:extLst>
          </p:cNvPr>
          <p:cNvSpPr/>
          <p:nvPr/>
        </p:nvSpPr>
        <p:spPr>
          <a:xfrm>
            <a:off x="0" y="598535"/>
            <a:ext cx="6858000" cy="573679"/>
          </a:xfrm>
          <a:prstGeom prst="roundRect">
            <a:avLst>
              <a:gd name="adj" fmla="val 3335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77862A66-52B6-48EA-84ED-DD843FA0714F}"/>
              </a:ext>
            </a:extLst>
          </p:cNvPr>
          <p:cNvSpPr/>
          <p:nvPr/>
        </p:nvSpPr>
        <p:spPr>
          <a:xfrm>
            <a:off x="7041360" y="0"/>
            <a:ext cx="576000" cy="576000"/>
          </a:xfrm>
          <a:prstGeom prst="rect">
            <a:avLst/>
          </a:prstGeom>
          <a:solidFill>
            <a:srgbClr val="003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a:p>
        </p:txBody>
      </p:sp>
      <p:sp>
        <p:nvSpPr>
          <p:cNvPr id="14" name="Retângulo 13">
            <a:extLst>
              <a:ext uri="{FF2B5EF4-FFF2-40B4-BE49-F238E27FC236}">
                <a16:creationId xmlns:a16="http://schemas.microsoft.com/office/drawing/2014/main" id="{B02AC7DE-5BFC-4B07-B793-9ECC071BBD80}"/>
              </a:ext>
            </a:extLst>
          </p:cNvPr>
          <p:cNvSpPr/>
          <p:nvPr/>
        </p:nvSpPr>
        <p:spPr>
          <a:xfrm>
            <a:off x="7039073" y="698971"/>
            <a:ext cx="576000" cy="576000"/>
          </a:xfrm>
          <a:prstGeom prst="rect">
            <a:avLst/>
          </a:prstGeom>
          <a:solidFill>
            <a:srgbClr val="055C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dirty="0"/>
          </a:p>
        </p:txBody>
      </p:sp>
      <p:sp>
        <p:nvSpPr>
          <p:cNvPr id="15" name="Retângulo 14">
            <a:extLst>
              <a:ext uri="{FF2B5EF4-FFF2-40B4-BE49-F238E27FC236}">
                <a16:creationId xmlns:a16="http://schemas.microsoft.com/office/drawing/2014/main" id="{AC375B3A-1ECF-459F-96AE-30D2A35FFD9E}"/>
              </a:ext>
            </a:extLst>
          </p:cNvPr>
          <p:cNvSpPr/>
          <p:nvPr/>
        </p:nvSpPr>
        <p:spPr>
          <a:xfrm>
            <a:off x="7039073" y="1395656"/>
            <a:ext cx="576000" cy="576000"/>
          </a:xfrm>
          <a:prstGeom prst="rect">
            <a:avLst/>
          </a:prstGeom>
          <a:solidFill>
            <a:srgbClr val="0E8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a:p>
        </p:txBody>
      </p:sp>
      <p:sp>
        <p:nvSpPr>
          <p:cNvPr id="18" name="Retângulo 17">
            <a:extLst>
              <a:ext uri="{FF2B5EF4-FFF2-40B4-BE49-F238E27FC236}">
                <a16:creationId xmlns:a16="http://schemas.microsoft.com/office/drawing/2014/main" id="{2083AC44-895F-4A16-95DD-30A10B00EF9F}"/>
              </a:ext>
            </a:extLst>
          </p:cNvPr>
          <p:cNvSpPr/>
          <p:nvPr/>
        </p:nvSpPr>
        <p:spPr>
          <a:xfrm>
            <a:off x="7039073" y="2092341"/>
            <a:ext cx="576000" cy="576000"/>
          </a:xfrm>
          <a:prstGeom prst="rect">
            <a:avLst/>
          </a:prstGeom>
          <a:solidFill>
            <a:srgbClr val="68BB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dirty="0"/>
          </a:p>
        </p:txBody>
      </p:sp>
      <p:sp>
        <p:nvSpPr>
          <p:cNvPr id="19" name="Retângulo 18">
            <a:extLst>
              <a:ext uri="{FF2B5EF4-FFF2-40B4-BE49-F238E27FC236}">
                <a16:creationId xmlns:a16="http://schemas.microsoft.com/office/drawing/2014/main" id="{78529AC0-94D9-45B7-90A1-E7923DE6EB0A}"/>
              </a:ext>
            </a:extLst>
          </p:cNvPr>
          <p:cNvSpPr/>
          <p:nvPr/>
        </p:nvSpPr>
        <p:spPr>
          <a:xfrm>
            <a:off x="7039073" y="2789026"/>
            <a:ext cx="576000" cy="576000"/>
          </a:xfrm>
          <a:prstGeom prst="rect">
            <a:avLst/>
          </a:prstGeom>
          <a:solidFill>
            <a:srgbClr val="7491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a:p>
        </p:txBody>
      </p:sp>
      <p:pic>
        <p:nvPicPr>
          <p:cNvPr id="20" name="Imagem 19">
            <a:extLst>
              <a:ext uri="{FF2B5EF4-FFF2-40B4-BE49-F238E27FC236}">
                <a16:creationId xmlns:a16="http://schemas.microsoft.com/office/drawing/2014/main" id="{B2A8747C-5EB7-4C89-9711-744B085D2B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9073" y="3499300"/>
            <a:ext cx="576000" cy="351297"/>
          </a:xfrm>
          <a:prstGeom prst="rect">
            <a:avLst/>
          </a:prstGeom>
        </p:spPr>
      </p:pic>
      <p:cxnSp>
        <p:nvCxnSpPr>
          <p:cNvPr id="47" name="Conector reto 46">
            <a:extLst>
              <a:ext uri="{FF2B5EF4-FFF2-40B4-BE49-F238E27FC236}">
                <a16:creationId xmlns:a16="http://schemas.microsoft.com/office/drawing/2014/main" id="{BC950FF2-BA5D-496F-8A5B-477A73352238}"/>
              </a:ext>
            </a:extLst>
          </p:cNvPr>
          <p:cNvCxnSpPr>
            <a:cxnSpLocks/>
          </p:cNvCxnSpPr>
          <p:nvPr/>
        </p:nvCxnSpPr>
        <p:spPr>
          <a:xfrm>
            <a:off x="395967" y="11196463"/>
            <a:ext cx="5851280" cy="0"/>
          </a:xfrm>
          <a:prstGeom prst="line">
            <a:avLst/>
          </a:prstGeom>
          <a:ln w="3175">
            <a:solidFill>
              <a:schemeClr val="tx1">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sp>
        <p:nvSpPr>
          <p:cNvPr id="50" name="CaixaDeTexto 49">
            <a:extLst>
              <a:ext uri="{FF2B5EF4-FFF2-40B4-BE49-F238E27FC236}">
                <a16:creationId xmlns:a16="http://schemas.microsoft.com/office/drawing/2014/main" id="{575645C1-AFD4-4B63-BAA3-265CC32C54AE}"/>
              </a:ext>
            </a:extLst>
          </p:cNvPr>
          <p:cNvSpPr txBox="1"/>
          <p:nvPr/>
        </p:nvSpPr>
        <p:spPr>
          <a:xfrm>
            <a:off x="86216" y="8372324"/>
            <a:ext cx="2033500" cy="830997"/>
          </a:xfrm>
          <a:prstGeom prst="rect">
            <a:avLst/>
          </a:prstGeom>
          <a:noFill/>
        </p:spPr>
        <p:txBody>
          <a:bodyPr wrap="square" rtlCol="0">
            <a:spAutoFit/>
          </a:bodyPr>
          <a:lstStyle/>
          <a:p>
            <a:pPr algn="just"/>
            <a:r>
              <a:rPr lang="pt-BR" sz="600" b="1" dirty="0" err="1">
                <a:solidFill>
                  <a:srgbClr val="003060"/>
                </a:solidFill>
                <a:latin typeface="Quicksand" pitchFamily="2" charset="0"/>
                <a:ea typeface="+mj-ea"/>
                <a:cs typeface="+mj-cs"/>
              </a:rPr>
              <a:t>Disclaimer</a:t>
            </a:r>
            <a:r>
              <a:rPr lang="pt-BR" sz="600" b="1" dirty="0">
                <a:solidFill>
                  <a:srgbClr val="003060"/>
                </a:solidFill>
                <a:latin typeface="Quicksand" pitchFamily="2" charset="0"/>
                <a:ea typeface="+mj-ea"/>
                <a:cs typeface="+mj-cs"/>
              </a:rPr>
              <a:t>:</a:t>
            </a:r>
            <a:r>
              <a:rPr lang="pt-BR" sz="600" dirty="0">
                <a:latin typeface="Quicksand" pitchFamily="2" charset="0"/>
                <a:ea typeface="+mj-ea"/>
                <a:cs typeface="+mj-cs"/>
              </a:rPr>
              <a:t> A rentabilidade obtida no passado não representa quaisquer garantias de rentabilidade futura, sem contar com nenhum tipo de garantia por parte do gestor, seguro, fundo garantidor ou quaisquer outros tipos de entidades por parte do mercado de bens mobiliários. É recomendada uma análise atenciosa dos materiais e propostas para alinhar o investidor com os objetivos da carteira.</a:t>
            </a:r>
          </a:p>
        </p:txBody>
      </p:sp>
      <p:graphicFrame>
        <p:nvGraphicFramePr>
          <p:cNvPr id="66" name="Tabela 65">
            <a:extLst>
              <a:ext uri="{FF2B5EF4-FFF2-40B4-BE49-F238E27FC236}">
                <a16:creationId xmlns:a16="http://schemas.microsoft.com/office/drawing/2014/main" id="{955B64BA-1A3D-4E80-8D98-9B6800883F8F}"/>
              </a:ext>
            </a:extLst>
          </p:cNvPr>
          <p:cNvGraphicFramePr>
            <a:graphicFrameLocks noGrp="1"/>
          </p:cNvGraphicFramePr>
          <p:nvPr>
            <p:extLst>
              <p:ext uri="{D42A27DB-BD31-4B8C-83A1-F6EECF244321}">
                <p14:modId xmlns:p14="http://schemas.microsoft.com/office/powerpoint/2010/main" val="599914204"/>
              </p:ext>
            </p:extLst>
          </p:nvPr>
        </p:nvGraphicFramePr>
        <p:xfrm>
          <a:off x="4297844" y="4694441"/>
          <a:ext cx="2357826" cy="904506"/>
        </p:xfrm>
        <a:graphic>
          <a:graphicData uri="http://schemas.openxmlformats.org/drawingml/2006/table">
            <a:tbl>
              <a:tblPr/>
              <a:tblGrid>
                <a:gridCol w="505483">
                  <a:extLst>
                    <a:ext uri="{9D8B030D-6E8A-4147-A177-3AD203B41FA5}">
                      <a16:colId xmlns:a16="http://schemas.microsoft.com/office/drawing/2014/main" val="3225529465"/>
                    </a:ext>
                  </a:extLst>
                </a:gridCol>
                <a:gridCol w="523173">
                  <a:extLst>
                    <a:ext uri="{9D8B030D-6E8A-4147-A177-3AD203B41FA5}">
                      <a16:colId xmlns:a16="http://schemas.microsoft.com/office/drawing/2014/main" val="4275241107"/>
                    </a:ext>
                  </a:extLst>
                </a:gridCol>
                <a:gridCol w="509251">
                  <a:extLst>
                    <a:ext uri="{9D8B030D-6E8A-4147-A177-3AD203B41FA5}">
                      <a16:colId xmlns:a16="http://schemas.microsoft.com/office/drawing/2014/main" val="505323646"/>
                    </a:ext>
                  </a:extLst>
                </a:gridCol>
                <a:gridCol w="509251">
                  <a:extLst>
                    <a:ext uri="{9D8B030D-6E8A-4147-A177-3AD203B41FA5}">
                      <a16:colId xmlns:a16="http://schemas.microsoft.com/office/drawing/2014/main" val="4264653788"/>
                    </a:ext>
                  </a:extLst>
                </a:gridCol>
                <a:gridCol w="310668">
                  <a:extLst>
                    <a:ext uri="{9D8B030D-6E8A-4147-A177-3AD203B41FA5}">
                      <a16:colId xmlns:a16="http://schemas.microsoft.com/office/drawing/2014/main" val="2328478263"/>
                    </a:ext>
                  </a:extLst>
                </a:gridCol>
              </a:tblGrid>
              <a:tr h="188931">
                <a:tc>
                  <a:txBody>
                    <a:bodyPr/>
                    <a:lstStyle/>
                    <a:p>
                      <a:pPr algn="l" fontAlgn="b"/>
                      <a:r>
                        <a:rPr lang="pt-BR" sz="800" b="0" i="0" u="none" strike="noStrike" dirty="0">
                          <a:solidFill>
                            <a:srgbClr val="000000"/>
                          </a:solidFill>
                          <a:effectLst/>
                          <a:latin typeface="Quicksand" pitchFamily="2" charset="0"/>
                        </a:rPr>
                        <a:t> </a:t>
                      </a:r>
                    </a:p>
                  </a:txBody>
                  <a:tcPr marL="9525" marR="9525" marT="9525" marB="0" anchor="b">
                    <a:lnL w="12700" cap="flat" cmpd="sng" algn="ctr">
                      <a:no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ctr" fontAlgn="b"/>
                      <a:r>
                        <a:rPr lang="pt-BR" sz="800" b="1" i="0" u="none" strike="noStrike" dirty="0">
                          <a:solidFill>
                            <a:srgbClr val="000000"/>
                          </a:solidFill>
                          <a:effectLst/>
                          <a:latin typeface="Quicksand" pitchFamily="2" charset="0"/>
                        </a:rPr>
                        <a:t>Tática</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b"/>
                      <a:r>
                        <a:rPr lang="pt-BR" sz="800" b="1" i="0" u="none" strike="noStrike" dirty="0">
                          <a:solidFill>
                            <a:srgbClr val="000000"/>
                          </a:solidFill>
                          <a:effectLst/>
                          <a:latin typeface="Quicksand" pitchFamily="2" charset="0"/>
                        </a:rPr>
                        <a:t>IFIX</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b"/>
                      <a:r>
                        <a:rPr lang="pt-BR" sz="800" b="1" i="0" u="none" strike="noStrike" dirty="0">
                          <a:solidFill>
                            <a:srgbClr val="000000"/>
                          </a:solidFill>
                          <a:effectLst/>
                          <a:latin typeface="Quicksand" pitchFamily="2" charset="0"/>
                        </a:rPr>
                        <a:t>CDI</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b"/>
                      <a:r>
                        <a:rPr lang="pt-BR" sz="800" b="1" i="0" u="none" strike="noStrike" dirty="0">
                          <a:solidFill>
                            <a:srgbClr val="000000"/>
                          </a:solidFill>
                          <a:effectLst/>
                          <a:latin typeface="Quicksand" pitchFamily="2" charset="0"/>
                        </a:rPr>
                        <a:t>Alpha</a:t>
                      </a:r>
                    </a:p>
                  </a:txBody>
                  <a:tcPr marL="9525" marR="9525" marT="9525" marB="0" anchor="ctr">
                    <a:lnL>
                      <a:noFill/>
                    </a:lnL>
                    <a:lnR w="12700" cap="flat" cmpd="sng" algn="ctr">
                      <a:no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7554066"/>
                  </a:ext>
                </a:extLst>
              </a:tr>
              <a:tr h="238525">
                <a:tc>
                  <a:txBody>
                    <a:bodyPr/>
                    <a:lstStyle/>
                    <a:p>
                      <a:pPr algn="l" fontAlgn="b"/>
                      <a:r>
                        <a:rPr lang="pt-BR" sz="800" b="1" i="0" u="none" strike="noStrike" dirty="0">
                          <a:solidFill>
                            <a:srgbClr val="000000"/>
                          </a:solidFill>
                          <a:effectLst/>
                          <a:latin typeface="Quicksand" pitchFamily="2" charset="0"/>
                        </a:rPr>
                        <a:t>01 M</a:t>
                      </a:r>
                    </a:p>
                  </a:txBody>
                  <a:tcPr marL="9525" marR="9525" marT="9525" marB="0" anchor="b">
                    <a:lnL w="12700" cap="flat" cmpd="sng" algn="ctr">
                      <a:no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fontAlgn="b"/>
                      <a:r>
                        <a:rPr lang="pt-BR" sz="800" b="0" i="0" u="none" strike="noStrike" dirty="0">
                          <a:solidFill>
                            <a:srgbClr val="003060"/>
                          </a:solidFill>
                          <a:effectLst/>
                          <a:latin typeface="Quicksand" pitchFamily="2" charset="0"/>
                        </a:rPr>
                        <a:t>6,00</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b"/>
                      <a:r>
                        <a:rPr lang="pt-BR" sz="800" b="0" i="0" u="none" strike="noStrike" dirty="0">
                          <a:solidFill>
                            <a:srgbClr val="003060"/>
                          </a:solidFill>
                          <a:effectLst/>
                          <a:latin typeface="Quicksand" pitchFamily="2" charset="0"/>
                        </a:rPr>
                        <a:t>3,13</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b"/>
                      <a:r>
                        <a:rPr lang="pt-BR" sz="800" b="0" i="0" u="none" strike="noStrike" dirty="0">
                          <a:solidFill>
                            <a:srgbClr val="003060"/>
                          </a:solidFill>
                          <a:effectLst/>
                          <a:latin typeface="Quicksand" pitchFamily="2" charset="0"/>
                        </a:rPr>
                        <a:t>0,96</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b"/>
                      <a:r>
                        <a:rPr lang="pt-BR" sz="800" b="0" i="0" u="none" strike="noStrike" dirty="0">
                          <a:solidFill>
                            <a:srgbClr val="003060"/>
                          </a:solidFill>
                          <a:effectLst/>
                          <a:latin typeface="Quicksand" pitchFamily="2" charset="0"/>
                        </a:rPr>
                        <a:t>2,86</a:t>
                      </a:r>
                    </a:p>
                  </a:txBody>
                  <a:tcPr marL="9525" marR="9525" marT="9525" marB="0" anchor="b">
                    <a:lnL>
                      <a:noFill/>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86720298"/>
                  </a:ext>
                </a:extLst>
              </a:tr>
              <a:tr h="238525">
                <a:tc>
                  <a:txBody>
                    <a:bodyPr/>
                    <a:lstStyle/>
                    <a:p>
                      <a:pPr algn="l" fontAlgn="b"/>
                      <a:r>
                        <a:rPr lang="pt-BR" sz="800" b="1" i="0" u="none" strike="noStrike" dirty="0">
                          <a:solidFill>
                            <a:srgbClr val="000000"/>
                          </a:solidFill>
                          <a:effectLst/>
                          <a:latin typeface="Quicksand" pitchFamily="2" charset="0"/>
                        </a:rPr>
                        <a:t>03 M</a:t>
                      </a:r>
                    </a:p>
                  </a:txBody>
                  <a:tcPr marL="9525" marR="9525" marT="9525" marB="0" anchor="b">
                    <a:lnL w="12700" cap="flat" cmpd="sng" algn="ctr">
                      <a:noFill/>
                      <a:prstDash val="solid"/>
                      <a:round/>
                      <a:headEnd type="none" w="med" len="med"/>
                      <a:tailEnd type="none" w="med" len="med"/>
                    </a:lnL>
                    <a:lnR>
                      <a:noFill/>
                    </a:lnR>
                    <a:lnT>
                      <a:noFill/>
                    </a:lnT>
                    <a:lnB>
                      <a:noFill/>
                    </a:lnB>
                  </a:tcPr>
                </a:tc>
                <a:tc>
                  <a:txBody>
                    <a:bodyPr/>
                    <a:lstStyle/>
                    <a:p>
                      <a:pPr algn="ctr" fontAlgn="b"/>
                      <a:r>
                        <a:rPr lang="pt-BR" sz="800" b="0" i="0" u="none" strike="noStrike" dirty="0">
                          <a:solidFill>
                            <a:srgbClr val="003060"/>
                          </a:solidFill>
                          <a:effectLst/>
                          <a:latin typeface="Quicksand" pitchFamily="2" charset="0"/>
                        </a:rPr>
                        <a:t>7,91</a:t>
                      </a:r>
                    </a:p>
                  </a:txBody>
                  <a:tcPr marL="9525" marR="9525" marT="9525" marB="0" anchor="b">
                    <a:lnL>
                      <a:noFill/>
                    </a:lnL>
                    <a:lnR>
                      <a:noFill/>
                    </a:lnR>
                    <a:lnT>
                      <a:noFill/>
                    </a:lnT>
                    <a:lnB>
                      <a:noFill/>
                    </a:lnB>
                  </a:tcPr>
                </a:tc>
                <a:tc>
                  <a:txBody>
                    <a:bodyPr/>
                    <a:lstStyle/>
                    <a:p>
                      <a:pPr algn="ctr" fontAlgn="b"/>
                      <a:r>
                        <a:rPr lang="pt-BR" sz="800" b="0" i="0" u="none" strike="noStrike" dirty="0">
                          <a:solidFill>
                            <a:srgbClr val="003060"/>
                          </a:solidFill>
                          <a:effectLst/>
                          <a:latin typeface="Quicksand" pitchFamily="2" charset="0"/>
                        </a:rPr>
                        <a:t>5,18</a:t>
                      </a:r>
                    </a:p>
                  </a:txBody>
                  <a:tcPr marL="9525" marR="9525" marT="9525" marB="0" anchor="b">
                    <a:lnL>
                      <a:noFill/>
                    </a:lnL>
                    <a:lnR>
                      <a:noFill/>
                    </a:lnR>
                    <a:lnT>
                      <a:noFill/>
                    </a:lnT>
                    <a:lnB>
                      <a:noFill/>
                    </a:lnB>
                  </a:tcPr>
                </a:tc>
                <a:tc>
                  <a:txBody>
                    <a:bodyPr/>
                    <a:lstStyle/>
                    <a:p>
                      <a:pPr algn="ctr" fontAlgn="b"/>
                      <a:r>
                        <a:rPr lang="pt-BR" sz="800" b="0" i="0" u="none" strike="noStrike" dirty="0">
                          <a:solidFill>
                            <a:srgbClr val="003060"/>
                          </a:solidFill>
                          <a:effectLst/>
                          <a:latin typeface="Quicksand" pitchFamily="2" charset="0"/>
                        </a:rPr>
                        <a:t>3,01</a:t>
                      </a:r>
                    </a:p>
                  </a:txBody>
                  <a:tcPr marL="9525" marR="9525" marT="9525" marB="0" anchor="b">
                    <a:lnL>
                      <a:noFill/>
                    </a:lnL>
                    <a:lnR>
                      <a:noFill/>
                    </a:lnR>
                    <a:lnT>
                      <a:noFill/>
                    </a:lnT>
                    <a:lnB>
                      <a:noFill/>
                    </a:lnB>
                  </a:tcPr>
                </a:tc>
                <a:tc>
                  <a:txBody>
                    <a:bodyPr/>
                    <a:lstStyle/>
                    <a:p>
                      <a:pPr algn="ctr" fontAlgn="b"/>
                      <a:r>
                        <a:rPr lang="pt-BR" sz="800" b="0" i="0" u="none" strike="noStrike" dirty="0">
                          <a:solidFill>
                            <a:srgbClr val="003060"/>
                          </a:solidFill>
                          <a:effectLst/>
                          <a:latin typeface="Quicksand" pitchFamily="2" charset="0"/>
                        </a:rPr>
                        <a:t>2,73</a:t>
                      </a:r>
                    </a:p>
                  </a:txBody>
                  <a:tcPr marL="9525" marR="9525" marT="9525" marB="0" anchor="b">
                    <a:lnL>
                      <a:noFill/>
                    </a:lnL>
                    <a:lnR w="12700" cap="flat" cmpd="sng" algn="ctr">
                      <a:noFill/>
                      <a:prstDash val="solid"/>
                      <a:round/>
                      <a:headEnd type="none" w="med" len="med"/>
                      <a:tailEnd type="none" w="med" len="med"/>
                    </a:lnR>
                    <a:lnT>
                      <a:noFill/>
                    </a:lnT>
                    <a:lnB>
                      <a:noFill/>
                    </a:lnB>
                  </a:tcPr>
                </a:tc>
                <a:extLst>
                  <a:ext uri="{0D108BD9-81ED-4DB2-BD59-A6C34878D82A}">
                    <a16:rowId xmlns:a16="http://schemas.microsoft.com/office/drawing/2014/main" val="2034946845"/>
                  </a:ext>
                </a:extLst>
              </a:tr>
              <a:tr h="238525">
                <a:tc>
                  <a:txBody>
                    <a:bodyPr/>
                    <a:lstStyle/>
                    <a:p>
                      <a:pPr algn="l" fontAlgn="b"/>
                      <a:r>
                        <a:rPr lang="pt-BR" sz="800" b="1" i="0" u="none" strike="noStrike" dirty="0">
                          <a:solidFill>
                            <a:srgbClr val="000000"/>
                          </a:solidFill>
                          <a:effectLst/>
                          <a:latin typeface="Quicksand" pitchFamily="2" charset="0"/>
                        </a:rPr>
                        <a:t>Início</a:t>
                      </a:r>
                    </a:p>
                  </a:txBody>
                  <a:tcPr marL="9525" marR="9525" marT="9525" marB="0" anchor="b">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tcPr>
                </a:tc>
                <a:tc>
                  <a:txBody>
                    <a:bodyPr/>
                    <a:lstStyle/>
                    <a:p>
                      <a:pPr algn="ctr" fontAlgn="b"/>
                      <a:r>
                        <a:rPr lang="pt-BR" sz="800" b="0" i="0" u="none" strike="noStrike" dirty="0">
                          <a:solidFill>
                            <a:srgbClr val="003060"/>
                          </a:solidFill>
                          <a:effectLst/>
                          <a:latin typeface="Quicksand" pitchFamily="2" charset="0"/>
                        </a:rPr>
                        <a:t>43,55</a:t>
                      </a:r>
                    </a:p>
                  </a:txBody>
                  <a:tcPr marL="9525" marR="9525" marT="9525" marB="0" anchor="b">
                    <a:lnL>
                      <a:noFill/>
                    </a:lnL>
                    <a:lnR>
                      <a:noFill/>
                    </a:lnR>
                    <a:lnT>
                      <a:noFill/>
                    </a:lnT>
                    <a:lnB w="12700" cap="flat" cmpd="sng" algn="ctr">
                      <a:noFill/>
                      <a:prstDash val="solid"/>
                      <a:round/>
                      <a:headEnd type="none" w="med" len="med"/>
                      <a:tailEnd type="none" w="med" len="med"/>
                    </a:lnB>
                  </a:tcPr>
                </a:tc>
                <a:tc>
                  <a:txBody>
                    <a:bodyPr/>
                    <a:lstStyle/>
                    <a:p>
                      <a:pPr algn="ctr" fontAlgn="b"/>
                      <a:r>
                        <a:rPr lang="pt-BR" sz="800" b="0" i="0" u="none" strike="noStrike" dirty="0">
                          <a:solidFill>
                            <a:srgbClr val="003060"/>
                          </a:solidFill>
                          <a:effectLst/>
                          <a:latin typeface="Quicksand" pitchFamily="2" charset="0"/>
                        </a:rPr>
                        <a:t>15,23</a:t>
                      </a:r>
                    </a:p>
                  </a:txBody>
                  <a:tcPr marL="9525" marR="9525" marT="9525" marB="0" anchor="b">
                    <a:lnL>
                      <a:noFill/>
                    </a:lnL>
                    <a:lnR>
                      <a:noFill/>
                    </a:lnR>
                    <a:lnT>
                      <a:noFill/>
                    </a:lnT>
                    <a:lnB w="12700" cap="flat" cmpd="sng" algn="ctr">
                      <a:noFill/>
                      <a:prstDash val="solid"/>
                      <a:round/>
                      <a:headEnd type="none" w="med" len="med"/>
                      <a:tailEnd type="none" w="med" len="med"/>
                    </a:lnB>
                  </a:tcPr>
                </a:tc>
                <a:tc>
                  <a:txBody>
                    <a:bodyPr/>
                    <a:lstStyle/>
                    <a:p>
                      <a:pPr algn="ctr" fontAlgn="b"/>
                      <a:r>
                        <a:rPr lang="pt-BR" sz="800" b="0" i="0" u="none" strike="noStrike" dirty="0">
                          <a:solidFill>
                            <a:srgbClr val="003060"/>
                          </a:solidFill>
                          <a:effectLst/>
                          <a:latin typeface="Quicksand" pitchFamily="2" charset="0"/>
                        </a:rPr>
                        <a:t>14,43</a:t>
                      </a:r>
                    </a:p>
                  </a:txBody>
                  <a:tcPr marL="9525" marR="9525" marT="9525" marB="0" anchor="b">
                    <a:lnL>
                      <a:noFill/>
                    </a:lnL>
                    <a:lnR>
                      <a:noFill/>
                    </a:lnR>
                    <a:lnT>
                      <a:noFill/>
                    </a:lnT>
                    <a:lnB w="12700" cap="flat" cmpd="sng" algn="ctr">
                      <a:no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pt-BR" sz="800" b="0" i="0" u="none" strike="noStrike" dirty="0">
                          <a:solidFill>
                            <a:srgbClr val="003060"/>
                          </a:solidFill>
                          <a:effectLst/>
                          <a:latin typeface="Quicksand" pitchFamily="2" charset="0"/>
                        </a:rPr>
                        <a:t>28,32</a:t>
                      </a:r>
                    </a:p>
                  </a:txBody>
                  <a:tcPr marL="9525" marR="9525" marT="9525" marB="0" anchor="b">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tcPr>
                </a:tc>
                <a:extLst>
                  <a:ext uri="{0D108BD9-81ED-4DB2-BD59-A6C34878D82A}">
                    <a16:rowId xmlns:a16="http://schemas.microsoft.com/office/drawing/2014/main" val="540443767"/>
                  </a:ext>
                </a:extLst>
              </a:tr>
            </a:tbl>
          </a:graphicData>
        </a:graphic>
      </p:graphicFrame>
      <p:graphicFrame>
        <p:nvGraphicFramePr>
          <p:cNvPr id="67" name="Tabela 66">
            <a:extLst>
              <a:ext uri="{FF2B5EF4-FFF2-40B4-BE49-F238E27FC236}">
                <a16:creationId xmlns:a16="http://schemas.microsoft.com/office/drawing/2014/main" id="{8BFF5854-45EE-4923-A00A-348E8A35EED4}"/>
              </a:ext>
            </a:extLst>
          </p:cNvPr>
          <p:cNvGraphicFramePr>
            <a:graphicFrameLocks noGrp="1"/>
          </p:cNvGraphicFramePr>
          <p:nvPr>
            <p:extLst>
              <p:ext uri="{D42A27DB-BD31-4B8C-83A1-F6EECF244321}">
                <p14:modId xmlns:p14="http://schemas.microsoft.com/office/powerpoint/2010/main" val="1410357351"/>
              </p:ext>
            </p:extLst>
          </p:nvPr>
        </p:nvGraphicFramePr>
        <p:xfrm>
          <a:off x="2256633" y="4693499"/>
          <a:ext cx="1974125" cy="904506"/>
        </p:xfrm>
        <a:graphic>
          <a:graphicData uri="http://schemas.openxmlformats.org/drawingml/2006/table">
            <a:tbl>
              <a:tblPr/>
              <a:tblGrid>
                <a:gridCol w="1377145">
                  <a:extLst>
                    <a:ext uri="{9D8B030D-6E8A-4147-A177-3AD203B41FA5}">
                      <a16:colId xmlns:a16="http://schemas.microsoft.com/office/drawing/2014/main" val="3225529465"/>
                    </a:ext>
                  </a:extLst>
                </a:gridCol>
                <a:gridCol w="596980">
                  <a:extLst>
                    <a:ext uri="{9D8B030D-6E8A-4147-A177-3AD203B41FA5}">
                      <a16:colId xmlns:a16="http://schemas.microsoft.com/office/drawing/2014/main" val="4275241107"/>
                    </a:ext>
                  </a:extLst>
                </a:gridCol>
              </a:tblGrid>
              <a:tr h="188931">
                <a:tc gridSpan="2">
                  <a:txBody>
                    <a:bodyPr/>
                    <a:lstStyle/>
                    <a:p>
                      <a:pPr algn="ctr" fontAlgn="b"/>
                      <a:r>
                        <a:rPr lang="pt-BR" sz="800" b="0" i="0" u="none" strike="noStrike" dirty="0">
                          <a:solidFill>
                            <a:srgbClr val="000000"/>
                          </a:solidFill>
                          <a:effectLst/>
                          <a:latin typeface="Quicksand" pitchFamily="2" charset="0"/>
                        </a:rPr>
                        <a:t> </a:t>
                      </a:r>
                      <a:r>
                        <a:rPr lang="pt-BR" sz="800" b="1" i="0" u="none" strike="noStrike" dirty="0">
                          <a:solidFill>
                            <a:srgbClr val="000000"/>
                          </a:solidFill>
                          <a:effectLst/>
                          <a:latin typeface="Quicksand" pitchFamily="2" charset="0"/>
                        </a:rPr>
                        <a:t>Resumo Mensal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hMerge="1">
                  <a:txBody>
                    <a:bodyPr/>
                    <a:lstStyle/>
                    <a:p>
                      <a:pPr algn="ctr" fontAlgn="b"/>
                      <a:r>
                        <a:rPr lang="pt-BR" sz="800" b="1" i="0" u="none" strike="noStrike" dirty="0">
                          <a:solidFill>
                            <a:srgbClr val="000000"/>
                          </a:solidFill>
                          <a:effectLst/>
                          <a:latin typeface="Quicksand" pitchFamily="2" charset="0"/>
                        </a:rPr>
                        <a:t>Cart. Tática</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7554066"/>
                  </a:ext>
                </a:extLst>
              </a:tr>
              <a:tr h="238525">
                <a:tc>
                  <a:txBody>
                    <a:bodyPr/>
                    <a:lstStyle/>
                    <a:p>
                      <a:pPr algn="l" fontAlgn="b"/>
                      <a:r>
                        <a:rPr lang="pt-BR" sz="800" b="1" i="0" u="none" strike="noStrike" dirty="0">
                          <a:solidFill>
                            <a:schemeClr val="tx1"/>
                          </a:solidFill>
                          <a:effectLst/>
                          <a:latin typeface="Quicksand" pitchFamily="2" charset="0"/>
                        </a:rPr>
                        <a:t>Total de </a:t>
                      </a:r>
                      <a:r>
                        <a:rPr lang="pt-BR" sz="800" b="1" i="0" u="none" strike="noStrike" kern="1200" dirty="0">
                          <a:solidFill>
                            <a:schemeClr val="tx1"/>
                          </a:solidFill>
                          <a:effectLst/>
                          <a:latin typeface="Quicksand" pitchFamily="2" charset="0"/>
                          <a:ea typeface="+mn-ea"/>
                          <a:cs typeface="+mn-cs"/>
                        </a:rPr>
                        <a:t>operações</a:t>
                      </a:r>
                    </a:p>
                  </a:txBody>
                  <a:tcPr marL="9525" marR="9525" marT="9525" marB="0" anchor="b">
                    <a:lnL w="12700" cap="flat" cmpd="sng" algn="ctr">
                      <a:no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pt-BR" sz="800" b="0" i="0" u="none" strike="noStrike" dirty="0">
                          <a:solidFill>
                            <a:srgbClr val="003060"/>
                          </a:solidFill>
                          <a:effectLst/>
                          <a:latin typeface="Quicksand" pitchFamily="2" charset="0"/>
                        </a:rPr>
                        <a:t>124</a:t>
                      </a:r>
                    </a:p>
                  </a:txBody>
                  <a:tcPr marL="9525" marR="9525" marT="9525" marB="0" anchor="b">
                    <a:lnL>
                      <a:noFill/>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86720298"/>
                  </a:ext>
                </a:extLst>
              </a:tr>
              <a:tr h="238525">
                <a:tc>
                  <a:txBody>
                    <a:bodyPr/>
                    <a:lstStyle/>
                    <a:p>
                      <a:pPr algn="l" fontAlgn="b"/>
                      <a:r>
                        <a:rPr lang="pt-BR" sz="800" b="1" i="0" u="none" strike="noStrike" dirty="0">
                          <a:solidFill>
                            <a:schemeClr val="tx1"/>
                          </a:solidFill>
                          <a:effectLst/>
                          <a:latin typeface="Quicksand" pitchFamily="2" charset="0"/>
                        </a:rPr>
                        <a:t>Operações com ganhos</a:t>
                      </a:r>
                    </a:p>
                  </a:txBody>
                  <a:tcPr marL="9525" marR="9525" marT="9525" marB="0" anchor="b">
                    <a:lnL w="12700" cap="flat" cmpd="sng" algn="ctr">
                      <a:noFill/>
                      <a:prstDash val="solid"/>
                      <a:round/>
                      <a:headEnd type="none" w="med" len="med"/>
                      <a:tailEnd type="none" w="med" len="med"/>
                    </a:lnL>
                    <a:lnR>
                      <a:noFill/>
                    </a:lnR>
                    <a:lnT>
                      <a:noFill/>
                    </a:lnT>
                    <a:lnB>
                      <a:noFill/>
                    </a:lnB>
                  </a:tcPr>
                </a:tc>
                <a:tc>
                  <a:txBody>
                    <a:bodyPr/>
                    <a:lstStyle/>
                    <a:p>
                      <a:pPr marL="0" marR="0" lvl="0" indent="0" algn="r" defTabSz="685800" rtl="0" eaLnBrk="1" fontAlgn="b"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dirty="0">
                          <a:ln>
                            <a:noFill/>
                          </a:ln>
                          <a:solidFill>
                            <a:srgbClr val="003060"/>
                          </a:solidFill>
                          <a:effectLst/>
                          <a:uLnTx/>
                          <a:uFillTx/>
                          <a:latin typeface="Quicksand" pitchFamily="2" charset="0"/>
                          <a:ea typeface="+mn-ea"/>
                          <a:cs typeface="+mn-cs"/>
                        </a:rPr>
                        <a:t>84,68%</a:t>
                      </a:r>
                    </a:p>
                  </a:txBody>
                  <a:tcPr marL="9525" marR="9525" marT="9525" marB="0" anchor="b">
                    <a:lnL>
                      <a:noFill/>
                    </a:lnL>
                    <a:lnR w="12700" cap="flat" cmpd="sng" algn="ctr">
                      <a:noFill/>
                      <a:prstDash val="solid"/>
                      <a:round/>
                      <a:headEnd type="none" w="med" len="med"/>
                      <a:tailEnd type="none" w="med" len="med"/>
                    </a:lnR>
                    <a:lnT>
                      <a:noFill/>
                    </a:lnT>
                    <a:lnB>
                      <a:noFill/>
                    </a:lnB>
                  </a:tcPr>
                </a:tc>
                <a:extLst>
                  <a:ext uri="{0D108BD9-81ED-4DB2-BD59-A6C34878D82A}">
                    <a16:rowId xmlns:a16="http://schemas.microsoft.com/office/drawing/2014/main" val="1985513782"/>
                  </a:ext>
                </a:extLst>
              </a:tr>
              <a:tr h="238525">
                <a:tc>
                  <a:txBody>
                    <a:bodyPr/>
                    <a:lstStyle/>
                    <a:p>
                      <a:pPr algn="l" fontAlgn="b"/>
                      <a:r>
                        <a:rPr lang="pt-BR" sz="800" b="1" i="0" u="none" strike="noStrike" dirty="0">
                          <a:solidFill>
                            <a:schemeClr val="tx1"/>
                          </a:solidFill>
                          <a:effectLst/>
                          <a:latin typeface="Quicksand" pitchFamily="2" charset="0"/>
                        </a:rPr>
                        <a:t>Maior ganho por operação</a:t>
                      </a:r>
                    </a:p>
                  </a:txBody>
                  <a:tcPr marL="9525" marR="9525" marT="9525" marB="0" anchor="b">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tcPr>
                </a:tc>
                <a:tc>
                  <a:txBody>
                    <a:bodyPr/>
                    <a:lstStyle/>
                    <a:p>
                      <a:pPr marL="0" marR="0" lvl="0" indent="0" algn="r" defTabSz="685800" rtl="0" eaLnBrk="1" fontAlgn="b"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dirty="0">
                          <a:ln>
                            <a:noFill/>
                          </a:ln>
                          <a:solidFill>
                            <a:srgbClr val="003060"/>
                          </a:solidFill>
                          <a:effectLst/>
                          <a:uLnTx/>
                          <a:uFillTx/>
                          <a:latin typeface="Quicksand" pitchFamily="2" charset="0"/>
                          <a:ea typeface="+mn-ea"/>
                          <a:cs typeface="+mn-cs"/>
                        </a:rPr>
                        <a:t>+25%</a:t>
                      </a:r>
                    </a:p>
                  </a:txBody>
                  <a:tcPr marL="9525" marR="9525" marT="9525" marB="0" anchor="b">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tcPr>
                </a:tc>
                <a:extLst>
                  <a:ext uri="{0D108BD9-81ED-4DB2-BD59-A6C34878D82A}">
                    <a16:rowId xmlns:a16="http://schemas.microsoft.com/office/drawing/2014/main" val="540443767"/>
                  </a:ext>
                </a:extLst>
              </a:tr>
            </a:tbl>
          </a:graphicData>
        </a:graphic>
      </p:graphicFrame>
      <p:sp>
        <p:nvSpPr>
          <p:cNvPr id="57" name="CaixaDeTexto 56">
            <a:extLst>
              <a:ext uri="{FF2B5EF4-FFF2-40B4-BE49-F238E27FC236}">
                <a16:creationId xmlns:a16="http://schemas.microsoft.com/office/drawing/2014/main" id="{460EA6AA-775E-4899-ACDA-911C723979D8}"/>
              </a:ext>
            </a:extLst>
          </p:cNvPr>
          <p:cNvSpPr txBox="1"/>
          <p:nvPr/>
        </p:nvSpPr>
        <p:spPr>
          <a:xfrm>
            <a:off x="2113365" y="5700444"/>
            <a:ext cx="4681099" cy="369332"/>
          </a:xfrm>
          <a:prstGeom prst="rect">
            <a:avLst/>
          </a:prstGeom>
          <a:noFill/>
        </p:spPr>
        <p:txBody>
          <a:bodyPr wrap="square" rtlCol="0">
            <a:spAutoFit/>
          </a:bodyPr>
          <a:lstStyle/>
          <a:p>
            <a:r>
              <a:rPr lang="pt-BR" dirty="0">
                <a:solidFill>
                  <a:srgbClr val="003060"/>
                </a:solidFill>
                <a:latin typeface="Quicksand Medium" pitchFamily="2" charset="0"/>
                <a:ea typeface="+mj-ea"/>
                <a:cs typeface="+mj-cs"/>
              </a:rPr>
              <a:t> Dezembro de 2025</a:t>
            </a:r>
          </a:p>
        </p:txBody>
      </p:sp>
      <p:cxnSp>
        <p:nvCxnSpPr>
          <p:cNvPr id="25" name="Conector reto 24">
            <a:extLst>
              <a:ext uri="{FF2B5EF4-FFF2-40B4-BE49-F238E27FC236}">
                <a16:creationId xmlns:a16="http://schemas.microsoft.com/office/drawing/2014/main" id="{C79C6D90-10D6-4813-A0D0-74E83EFB4C7D}"/>
              </a:ext>
            </a:extLst>
          </p:cNvPr>
          <p:cNvCxnSpPr>
            <a:cxnSpLocks/>
          </p:cNvCxnSpPr>
          <p:nvPr/>
        </p:nvCxnSpPr>
        <p:spPr>
          <a:xfrm>
            <a:off x="4436876" y="5885110"/>
            <a:ext cx="2201987" cy="0"/>
          </a:xfrm>
          <a:prstGeom prst="line">
            <a:avLst/>
          </a:prstGeom>
          <a:ln w="38100">
            <a:solidFill>
              <a:srgbClr val="003060"/>
            </a:solidFill>
          </a:ln>
        </p:spPr>
        <p:style>
          <a:lnRef idx="1">
            <a:schemeClr val="accent1"/>
          </a:lnRef>
          <a:fillRef idx="0">
            <a:schemeClr val="accent1"/>
          </a:fillRef>
          <a:effectRef idx="0">
            <a:schemeClr val="accent1"/>
          </a:effectRef>
          <a:fontRef idx="minor">
            <a:schemeClr val="tx1"/>
          </a:fontRef>
        </p:style>
      </p:cxnSp>
      <p:sp>
        <p:nvSpPr>
          <p:cNvPr id="56" name="CaixaDeTexto 55">
            <a:extLst>
              <a:ext uri="{FF2B5EF4-FFF2-40B4-BE49-F238E27FC236}">
                <a16:creationId xmlns:a16="http://schemas.microsoft.com/office/drawing/2014/main" id="{E19EECC9-FBA4-4264-B597-99FC77239C34}"/>
              </a:ext>
            </a:extLst>
          </p:cNvPr>
          <p:cNvSpPr txBox="1"/>
          <p:nvPr/>
        </p:nvSpPr>
        <p:spPr>
          <a:xfrm>
            <a:off x="733800" y="15763"/>
            <a:ext cx="3355852" cy="538609"/>
          </a:xfrm>
          <a:prstGeom prst="rect">
            <a:avLst/>
          </a:prstGeom>
          <a:noFill/>
        </p:spPr>
        <p:txBody>
          <a:bodyPr wrap="square" rtlCol="0">
            <a:spAutoFit/>
          </a:bodyPr>
          <a:lstStyle/>
          <a:p>
            <a:r>
              <a:rPr lang="pt-BR" sz="2000" dirty="0">
                <a:solidFill>
                  <a:schemeClr val="bg1"/>
                </a:solidFill>
                <a:latin typeface="Quicksand Medium" pitchFamily="2" charset="0"/>
                <a:ea typeface="+mj-ea"/>
                <a:cs typeface="+mj-cs"/>
              </a:rPr>
              <a:t>Carteira UP </a:t>
            </a:r>
            <a:r>
              <a:rPr lang="pt-BR" sz="2000" dirty="0" err="1">
                <a:solidFill>
                  <a:schemeClr val="bg1"/>
                </a:solidFill>
                <a:latin typeface="Quicksand Medium" pitchFamily="2" charset="0"/>
                <a:ea typeface="+mj-ea"/>
                <a:cs typeface="+mj-cs"/>
              </a:rPr>
              <a:t>FIIs</a:t>
            </a:r>
            <a:endParaRPr lang="pt-BR" sz="2000" dirty="0">
              <a:solidFill>
                <a:schemeClr val="bg1"/>
              </a:solidFill>
              <a:latin typeface="Quicksand Medium" pitchFamily="2" charset="0"/>
              <a:ea typeface="+mj-ea"/>
              <a:cs typeface="+mj-cs"/>
            </a:endParaRPr>
          </a:p>
          <a:p>
            <a:r>
              <a:rPr lang="pt-BR" sz="900" dirty="0">
                <a:solidFill>
                  <a:schemeClr val="bg1"/>
                </a:solidFill>
                <a:latin typeface="Quicksand Medium" pitchFamily="2" charset="0"/>
                <a:ea typeface="+mj-ea"/>
                <a:cs typeface="+mj-cs"/>
              </a:rPr>
              <a:t>INTELIGÊNCIA ARTIFICIAL A SERVIÇO DO SEU DINHEIRO</a:t>
            </a:r>
          </a:p>
        </p:txBody>
      </p:sp>
      <p:pic>
        <p:nvPicPr>
          <p:cNvPr id="53" name="Imagem 52">
            <a:extLst>
              <a:ext uri="{FF2B5EF4-FFF2-40B4-BE49-F238E27FC236}">
                <a16:creationId xmlns:a16="http://schemas.microsoft.com/office/drawing/2014/main" id="{1B6F33B9-09AE-43D5-8015-BE52FBB74A8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236360" y="9345955"/>
            <a:ext cx="531019" cy="325308"/>
          </a:xfrm>
          <a:prstGeom prst="rect">
            <a:avLst/>
          </a:prstGeom>
        </p:spPr>
      </p:pic>
      <p:sp>
        <p:nvSpPr>
          <p:cNvPr id="54" name="CaixaDeTexto 53">
            <a:extLst>
              <a:ext uri="{FF2B5EF4-FFF2-40B4-BE49-F238E27FC236}">
                <a16:creationId xmlns:a16="http://schemas.microsoft.com/office/drawing/2014/main" id="{AAAFCDF9-C586-430B-BCEB-13441BB3F603}"/>
              </a:ext>
            </a:extLst>
          </p:cNvPr>
          <p:cNvSpPr txBox="1"/>
          <p:nvPr/>
        </p:nvSpPr>
        <p:spPr>
          <a:xfrm>
            <a:off x="86216" y="2113754"/>
            <a:ext cx="2033500" cy="3908762"/>
          </a:xfrm>
          <a:prstGeom prst="rect">
            <a:avLst/>
          </a:prstGeom>
          <a:noFill/>
        </p:spPr>
        <p:txBody>
          <a:bodyPr wrap="square" rtlCol="0">
            <a:spAutoFit/>
          </a:bodyPr>
          <a:lstStyle/>
          <a:p>
            <a:pPr algn="just"/>
            <a:r>
              <a:rPr lang="pt-BR" sz="800" b="1" dirty="0">
                <a:solidFill>
                  <a:srgbClr val="003060"/>
                </a:solidFill>
                <a:latin typeface="Quicksand" pitchFamily="2" charset="0"/>
                <a:ea typeface="+mj-ea"/>
                <a:cs typeface="+mj-cs"/>
              </a:rPr>
              <a:t>Público Alvo: </a:t>
            </a:r>
            <a:r>
              <a:rPr lang="pt-BR" sz="800" dirty="0">
                <a:latin typeface="Quicksand" pitchFamily="2" charset="0"/>
                <a:ea typeface="+mj-ea"/>
                <a:cs typeface="+mj-cs"/>
              </a:rPr>
              <a:t>qualquer investidor com perfis de risco moderado/arrojado.</a:t>
            </a:r>
          </a:p>
          <a:p>
            <a:pPr algn="just"/>
            <a:endParaRPr lang="pt-BR" sz="800" dirty="0">
              <a:latin typeface="Quicksand" pitchFamily="2" charset="0"/>
              <a:ea typeface="+mj-ea"/>
              <a:cs typeface="+mj-cs"/>
            </a:endParaRPr>
          </a:p>
          <a:p>
            <a:pPr algn="just"/>
            <a:r>
              <a:rPr lang="pt-BR" sz="800" b="1" dirty="0" err="1">
                <a:solidFill>
                  <a:srgbClr val="003060"/>
                </a:solidFill>
                <a:latin typeface="Quicksand" pitchFamily="2" charset="0"/>
                <a:ea typeface="+mj-ea"/>
                <a:cs typeface="+mj-cs"/>
              </a:rPr>
              <a:t>Drawdown</a:t>
            </a:r>
            <a:r>
              <a:rPr lang="pt-BR" sz="800" b="1" dirty="0">
                <a:solidFill>
                  <a:srgbClr val="003060"/>
                </a:solidFill>
                <a:latin typeface="Quicksand" pitchFamily="2" charset="0"/>
                <a:ea typeface="+mj-ea"/>
                <a:cs typeface="+mj-cs"/>
              </a:rPr>
              <a:t> máximo: </a:t>
            </a:r>
            <a:r>
              <a:rPr lang="pt-BR" sz="800" dirty="0">
                <a:latin typeface="Quicksand" pitchFamily="2" charset="0"/>
                <a:ea typeface="+mj-ea"/>
                <a:cs typeface="+mj-cs"/>
              </a:rPr>
              <a:t>-3,24%</a:t>
            </a:r>
          </a:p>
          <a:p>
            <a:pPr algn="just"/>
            <a:endParaRPr lang="pt-BR" sz="800" dirty="0">
              <a:latin typeface="Quicksand" pitchFamily="2" charset="0"/>
              <a:ea typeface="+mj-ea"/>
              <a:cs typeface="+mj-cs"/>
            </a:endParaRPr>
          </a:p>
          <a:p>
            <a:pPr algn="just"/>
            <a:r>
              <a:rPr lang="pt-BR" sz="800" b="1" dirty="0">
                <a:solidFill>
                  <a:srgbClr val="003060"/>
                </a:solidFill>
                <a:latin typeface="Quicksand" pitchFamily="2" charset="0"/>
                <a:ea typeface="+mj-ea"/>
                <a:cs typeface="+mj-cs"/>
              </a:rPr>
              <a:t>Volatilidade Anualizada:</a:t>
            </a:r>
            <a:r>
              <a:rPr lang="pt-BR" sz="800" dirty="0">
                <a:latin typeface="Quicksand" pitchFamily="2" charset="0"/>
                <a:ea typeface="+mj-ea"/>
                <a:cs typeface="+mj-cs"/>
              </a:rPr>
              <a:t> 7,38%</a:t>
            </a:r>
          </a:p>
          <a:p>
            <a:pPr algn="just"/>
            <a:endParaRPr lang="pt-BR" sz="800" dirty="0">
              <a:latin typeface="Quicksand" pitchFamily="2" charset="0"/>
              <a:ea typeface="+mj-ea"/>
              <a:cs typeface="+mj-cs"/>
            </a:endParaRPr>
          </a:p>
          <a:p>
            <a:pPr algn="just"/>
            <a:r>
              <a:rPr lang="pt-BR" sz="800" b="1" dirty="0">
                <a:solidFill>
                  <a:srgbClr val="003060"/>
                </a:solidFill>
                <a:latin typeface="Quicksand" pitchFamily="2" charset="0"/>
                <a:ea typeface="+mj-ea"/>
                <a:cs typeface="+mj-cs"/>
              </a:rPr>
              <a:t>Retorno Acumulado:</a:t>
            </a:r>
            <a:r>
              <a:rPr lang="pt-BR" sz="800" dirty="0">
                <a:latin typeface="Quicksand" pitchFamily="2" charset="0"/>
                <a:ea typeface="+mj-ea"/>
                <a:cs typeface="+mj-cs"/>
              </a:rPr>
              <a:t> 43,55%</a:t>
            </a:r>
          </a:p>
          <a:p>
            <a:pPr algn="just"/>
            <a:endParaRPr lang="pt-BR" sz="800" dirty="0">
              <a:latin typeface="Quicksand" pitchFamily="2" charset="0"/>
              <a:ea typeface="+mj-ea"/>
              <a:cs typeface="+mj-cs"/>
            </a:endParaRPr>
          </a:p>
          <a:p>
            <a:pPr algn="just"/>
            <a:r>
              <a:rPr lang="pt-BR" sz="800" b="1" dirty="0">
                <a:solidFill>
                  <a:srgbClr val="003060"/>
                </a:solidFill>
                <a:latin typeface="Quicksand" pitchFamily="2" charset="0"/>
                <a:ea typeface="+mj-ea"/>
                <a:cs typeface="+mj-cs"/>
              </a:rPr>
              <a:t>Índice de Sharpe:</a:t>
            </a:r>
            <a:r>
              <a:rPr lang="pt-BR" sz="800" dirty="0">
                <a:latin typeface="Quicksand" pitchFamily="2" charset="0"/>
                <a:ea typeface="+mj-ea"/>
                <a:cs typeface="+mj-cs"/>
              </a:rPr>
              <a:t> 3,60</a:t>
            </a:r>
          </a:p>
          <a:p>
            <a:pPr algn="just"/>
            <a:endParaRPr lang="pt-BR" sz="800" b="1" dirty="0">
              <a:solidFill>
                <a:srgbClr val="003060"/>
              </a:solidFill>
              <a:latin typeface="Quicksand" pitchFamily="2" charset="0"/>
              <a:ea typeface="+mj-ea"/>
              <a:cs typeface="+mj-cs"/>
            </a:endParaRPr>
          </a:p>
          <a:p>
            <a:pPr algn="just"/>
            <a:r>
              <a:rPr lang="pt-BR" sz="800" b="1" dirty="0">
                <a:solidFill>
                  <a:srgbClr val="003060"/>
                </a:solidFill>
                <a:latin typeface="Quicksand" pitchFamily="2" charset="0"/>
                <a:ea typeface="+mj-ea"/>
                <a:cs typeface="+mj-cs"/>
              </a:rPr>
              <a:t>Benchmark:</a:t>
            </a:r>
            <a:r>
              <a:rPr lang="pt-BR" sz="800" dirty="0">
                <a:latin typeface="Quicksand" pitchFamily="2" charset="0"/>
                <a:ea typeface="+mj-ea"/>
                <a:cs typeface="+mj-cs"/>
              </a:rPr>
              <a:t> IFIX</a:t>
            </a:r>
          </a:p>
          <a:p>
            <a:pPr algn="just"/>
            <a:endParaRPr lang="pt-BR" sz="800" b="1" dirty="0">
              <a:solidFill>
                <a:srgbClr val="003060"/>
              </a:solidFill>
              <a:latin typeface="Quicksand" pitchFamily="2" charset="0"/>
              <a:ea typeface="+mj-ea"/>
              <a:cs typeface="+mj-cs"/>
            </a:endParaRPr>
          </a:p>
          <a:p>
            <a:pPr algn="just"/>
            <a:r>
              <a:rPr lang="pt-BR" sz="800" b="1" dirty="0">
                <a:solidFill>
                  <a:srgbClr val="003060"/>
                </a:solidFill>
                <a:latin typeface="Quicksand" pitchFamily="2" charset="0"/>
                <a:ea typeface="+mj-ea"/>
                <a:cs typeface="+mj-cs"/>
              </a:rPr>
              <a:t>Alpha:</a:t>
            </a:r>
            <a:r>
              <a:rPr lang="pt-BR" sz="800" dirty="0">
                <a:latin typeface="Quicksand" pitchFamily="2" charset="0"/>
                <a:ea typeface="+mj-ea"/>
                <a:cs typeface="+mj-cs"/>
              </a:rPr>
              <a:t> 28,32%</a:t>
            </a:r>
          </a:p>
          <a:p>
            <a:pPr algn="just"/>
            <a:endParaRPr lang="pt-BR" sz="800" b="1" dirty="0">
              <a:solidFill>
                <a:srgbClr val="003060"/>
              </a:solidFill>
              <a:latin typeface="Quicksand" pitchFamily="2" charset="0"/>
              <a:ea typeface="+mj-ea"/>
              <a:cs typeface="+mj-cs"/>
            </a:endParaRPr>
          </a:p>
          <a:p>
            <a:pPr algn="just"/>
            <a:r>
              <a:rPr lang="pt-BR" sz="800" b="1" dirty="0">
                <a:solidFill>
                  <a:srgbClr val="003060"/>
                </a:solidFill>
                <a:latin typeface="Quicksand" pitchFamily="2" charset="0"/>
                <a:ea typeface="+mj-ea"/>
                <a:cs typeface="+mj-cs"/>
              </a:rPr>
              <a:t>Investimento Mínimo:</a:t>
            </a:r>
            <a:r>
              <a:rPr lang="pt-BR" sz="800" dirty="0">
                <a:latin typeface="Quicksand" pitchFamily="2" charset="0"/>
                <a:ea typeface="+mj-ea"/>
                <a:cs typeface="+mj-cs"/>
              </a:rPr>
              <a:t> R$ 50.000,00</a:t>
            </a:r>
          </a:p>
          <a:p>
            <a:pPr algn="just"/>
            <a:endParaRPr lang="pt-BR" sz="800" b="1" dirty="0">
              <a:solidFill>
                <a:srgbClr val="003060"/>
              </a:solidFill>
              <a:latin typeface="Quicksand" pitchFamily="2" charset="0"/>
              <a:ea typeface="+mj-ea"/>
              <a:cs typeface="+mj-cs"/>
            </a:endParaRPr>
          </a:p>
          <a:p>
            <a:pPr algn="just"/>
            <a:r>
              <a:rPr lang="pt-BR" sz="800" b="1" dirty="0">
                <a:solidFill>
                  <a:srgbClr val="003060"/>
                </a:solidFill>
                <a:latin typeface="Quicksand" pitchFamily="2" charset="0"/>
                <a:ea typeface="+mj-ea"/>
                <a:cs typeface="+mj-cs"/>
              </a:rPr>
              <a:t>Cota de Resgate:</a:t>
            </a:r>
            <a:r>
              <a:rPr lang="pt-BR" sz="800" dirty="0">
                <a:latin typeface="Quicksand" pitchFamily="2" charset="0"/>
                <a:ea typeface="+mj-ea"/>
                <a:cs typeface="+mj-cs"/>
              </a:rPr>
              <a:t> Imediata</a:t>
            </a:r>
          </a:p>
          <a:p>
            <a:pPr algn="just"/>
            <a:endParaRPr lang="pt-BR" sz="800" b="1" dirty="0">
              <a:solidFill>
                <a:srgbClr val="003060"/>
              </a:solidFill>
              <a:latin typeface="Quicksand" pitchFamily="2" charset="0"/>
              <a:ea typeface="+mj-ea"/>
              <a:cs typeface="+mj-cs"/>
            </a:endParaRPr>
          </a:p>
          <a:p>
            <a:pPr algn="just"/>
            <a:r>
              <a:rPr lang="pt-BR" sz="800" b="1" dirty="0">
                <a:solidFill>
                  <a:srgbClr val="003060"/>
                </a:solidFill>
                <a:latin typeface="Quicksand" pitchFamily="2" charset="0"/>
                <a:ea typeface="+mj-ea"/>
                <a:cs typeface="+mj-cs"/>
              </a:rPr>
              <a:t>Prazo de Resgate</a:t>
            </a:r>
            <a:r>
              <a:rPr lang="pt-BR" sz="800" dirty="0">
                <a:latin typeface="Quicksand" pitchFamily="2" charset="0"/>
                <a:ea typeface="+mj-ea"/>
                <a:cs typeface="+mj-cs"/>
              </a:rPr>
              <a:t>: D+5</a:t>
            </a:r>
          </a:p>
          <a:p>
            <a:pPr algn="just"/>
            <a:endParaRPr lang="pt-BR" sz="800" dirty="0">
              <a:latin typeface="Quicksand" pitchFamily="2" charset="0"/>
              <a:ea typeface="+mj-ea"/>
              <a:cs typeface="+mj-cs"/>
            </a:endParaRPr>
          </a:p>
          <a:p>
            <a:pPr algn="just"/>
            <a:r>
              <a:rPr lang="pt-BR" sz="800" b="1" dirty="0">
                <a:solidFill>
                  <a:srgbClr val="003060"/>
                </a:solidFill>
                <a:latin typeface="Quicksand" pitchFamily="2" charset="0"/>
                <a:ea typeface="+mj-ea"/>
                <a:cs typeface="+mj-cs"/>
              </a:rPr>
              <a:t>Taxa de Gestão: </a:t>
            </a:r>
            <a:r>
              <a:rPr lang="pt-BR" sz="800" dirty="0">
                <a:latin typeface="Quicksand" pitchFamily="2" charset="0"/>
                <a:ea typeface="+mj-ea"/>
                <a:cs typeface="+mj-cs"/>
              </a:rPr>
              <a:t>de 0,60% a 2,00%</a:t>
            </a:r>
          </a:p>
          <a:p>
            <a:pPr algn="just"/>
            <a:endParaRPr lang="pt-BR" sz="800" dirty="0">
              <a:latin typeface="Quicksand" pitchFamily="2" charset="0"/>
              <a:ea typeface="+mj-ea"/>
              <a:cs typeface="+mj-cs"/>
            </a:endParaRPr>
          </a:p>
          <a:p>
            <a:pPr algn="just"/>
            <a:r>
              <a:rPr lang="pt-BR" sz="800" b="1" dirty="0">
                <a:solidFill>
                  <a:srgbClr val="003060"/>
                </a:solidFill>
                <a:latin typeface="Quicksand" pitchFamily="2" charset="0"/>
                <a:ea typeface="+mj-ea"/>
                <a:cs typeface="+mj-cs"/>
              </a:rPr>
              <a:t>Taxa de Performance: </a:t>
            </a:r>
            <a:r>
              <a:rPr lang="pt-BR" sz="800" dirty="0">
                <a:latin typeface="Quicksand" pitchFamily="2" charset="0"/>
                <a:ea typeface="+mj-ea"/>
                <a:cs typeface="+mj-cs"/>
              </a:rPr>
              <a:t>30% sobre o que exceder o IFIX no período (utilizando marca d’água).</a:t>
            </a:r>
          </a:p>
          <a:p>
            <a:pPr algn="just"/>
            <a:endParaRPr lang="pt-BR" sz="800" dirty="0">
              <a:latin typeface="Quicksand" pitchFamily="2" charset="0"/>
              <a:ea typeface="+mj-ea"/>
              <a:cs typeface="+mj-cs"/>
            </a:endParaRPr>
          </a:p>
          <a:p>
            <a:pPr algn="just"/>
            <a:r>
              <a:rPr lang="pt-BR" sz="800" b="1" dirty="0">
                <a:solidFill>
                  <a:srgbClr val="003060"/>
                </a:solidFill>
                <a:latin typeface="Quicksand" pitchFamily="2" charset="0"/>
                <a:ea typeface="+mj-ea"/>
                <a:cs typeface="+mj-cs"/>
              </a:rPr>
              <a:t>Gestão: </a:t>
            </a:r>
            <a:r>
              <a:rPr lang="pt-BR" sz="800" dirty="0">
                <a:latin typeface="Quicksand" pitchFamily="2" charset="0"/>
                <a:ea typeface="+mj-ea"/>
                <a:cs typeface="+mj-cs"/>
              </a:rPr>
              <a:t>UP GCA</a:t>
            </a:r>
          </a:p>
          <a:p>
            <a:pPr algn="just"/>
            <a:endParaRPr lang="pt-BR" sz="800" dirty="0">
              <a:latin typeface="Quicksand" pitchFamily="2" charset="0"/>
              <a:ea typeface="+mj-ea"/>
              <a:cs typeface="+mj-cs"/>
            </a:endParaRPr>
          </a:p>
          <a:p>
            <a:pPr algn="just"/>
            <a:r>
              <a:rPr lang="pt-BR" sz="800" b="1" dirty="0">
                <a:solidFill>
                  <a:srgbClr val="003060"/>
                </a:solidFill>
                <a:latin typeface="Quicksand" pitchFamily="2" charset="0"/>
                <a:ea typeface="+mj-ea"/>
                <a:cs typeface="+mj-cs"/>
              </a:rPr>
              <a:t>PL Total:</a:t>
            </a:r>
            <a:r>
              <a:rPr lang="pt-BR" sz="800" dirty="0">
                <a:latin typeface="Quicksand" pitchFamily="2" charset="0"/>
                <a:ea typeface="+mj-ea"/>
                <a:cs typeface="+mj-cs"/>
              </a:rPr>
              <a:t> R$ 6,76MM</a:t>
            </a:r>
          </a:p>
        </p:txBody>
      </p:sp>
      <p:sp>
        <p:nvSpPr>
          <p:cNvPr id="72" name="CaixaDeTexto 71">
            <a:extLst>
              <a:ext uri="{FF2B5EF4-FFF2-40B4-BE49-F238E27FC236}">
                <a16:creationId xmlns:a16="http://schemas.microsoft.com/office/drawing/2014/main" id="{24E54D3D-0C2B-44F0-9B60-6FD223B80FB5}"/>
              </a:ext>
            </a:extLst>
          </p:cNvPr>
          <p:cNvSpPr txBox="1"/>
          <p:nvPr/>
        </p:nvSpPr>
        <p:spPr>
          <a:xfrm>
            <a:off x="2119716" y="2062622"/>
            <a:ext cx="4681099" cy="369332"/>
          </a:xfrm>
          <a:prstGeom prst="rect">
            <a:avLst/>
          </a:prstGeom>
          <a:noFill/>
        </p:spPr>
        <p:txBody>
          <a:bodyPr wrap="square" rtlCol="0">
            <a:spAutoFit/>
          </a:bodyPr>
          <a:lstStyle/>
          <a:p>
            <a:r>
              <a:rPr lang="pt-BR" dirty="0">
                <a:solidFill>
                  <a:srgbClr val="003060"/>
                </a:solidFill>
                <a:latin typeface="Quicksand Medium" pitchFamily="2" charset="0"/>
                <a:ea typeface="+mj-ea"/>
                <a:cs typeface="+mj-cs"/>
              </a:rPr>
              <a:t> Track Record                                 +43,55%</a:t>
            </a:r>
          </a:p>
        </p:txBody>
      </p:sp>
      <p:grpSp>
        <p:nvGrpSpPr>
          <p:cNvPr id="46" name="Agrupar 45">
            <a:extLst>
              <a:ext uri="{FF2B5EF4-FFF2-40B4-BE49-F238E27FC236}">
                <a16:creationId xmlns:a16="http://schemas.microsoft.com/office/drawing/2014/main" id="{B7BB72CB-DA6F-4828-B942-7FC1C4F0FD93}"/>
              </a:ext>
            </a:extLst>
          </p:cNvPr>
          <p:cNvGrpSpPr/>
          <p:nvPr/>
        </p:nvGrpSpPr>
        <p:grpSpPr>
          <a:xfrm>
            <a:off x="166688" y="9344646"/>
            <a:ext cx="5867416" cy="290183"/>
            <a:chOff x="630242" y="5969153"/>
            <a:chExt cx="10587615" cy="290183"/>
          </a:xfrm>
          <a:solidFill>
            <a:srgbClr val="003060"/>
          </a:solidFill>
        </p:grpSpPr>
        <p:sp>
          <p:nvSpPr>
            <p:cNvPr id="49" name="Retângulo: Cantos Arredondados 48">
              <a:extLst>
                <a:ext uri="{FF2B5EF4-FFF2-40B4-BE49-F238E27FC236}">
                  <a16:creationId xmlns:a16="http://schemas.microsoft.com/office/drawing/2014/main" id="{291FC585-5A60-44BD-B495-21CFF8907124}"/>
                </a:ext>
              </a:extLst>
            </p:cNvPr>
            <p:cNvSpPr/>
            <p:nvPr/>
          </p:nvSpPr>
          <p:spPr>
            <a:xfrm>
              <a:off x="630242" y="5969153"/>
              <a:ext cx="10587615" cy="14681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Retângulo: Cantos Arredondados 54">
              <a:extLst>
                <a:ext uri="{FF2B5EF4-FFF2-40B4-BE49-F238E27FC236}">
                  <a16:creationId xmlns:a16="http://schemas.microsoft.com/office/drawing/2014/main" id="{655A5D7D-738D-4ED2-B03E-97BA868180EF}"/>
                </a:ext>
              </a:extLst>
            </p:cNvPr>
            <p:cNvSpPr/>
            <p:nvPr/>
          </p:nvSpPr>
          <p:spPr>
            <a:xfrm>
              <a:off x="630242" y="5974879"/>
              <a:ext cx="10587615" cy="284457"/>
            </a:xfrm>
            <a:prstGeom prst="roundRect">
              <a:avLst>
                <a:gd name="adj" fmla="val 3335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8" name="CaixaDeTexto 57">
              <a:extLst>
                <a:ext uri="{FF2B5EF4-FFF2-40B4-BE49-F238E27FC236}">
                  <a16:creationId xmlns:a16="http://schemas.microsoft.com/office/drawing/2014/main" id="{1E57C72A-F894-44FD-8F50-EAEC33BBD11A}"/>
                </a:ext>
              </a:extLst>
            </p:cNvPr>
            <p:cNvSpPr txBox="1"/>
            <p:nvPr/>
          </p:nvSpPr>
          <p:spPr>
            <a:xfrm>
              <a:off x="965102" y="5984462"/>
              <a:ext cx="10186133" cy="246221"/>
            </a:xfrm>
            <a:prstGeom prst="rect">
              <a:avLst/>
            </a:prstGeom>
            <a:grpFill/>
          </p:spPr>
          <p:txBody>
            <a:bodyPr wrap="square" rtlCol="0">
              <a:spAutoFit/>
            </a:bodyPr>
            <a:lstStyle/>
            <a:p>
              <a:pPr algn="r"/>
              <a:r>
                <a:rPr lang="pt-BR" sz="1000" b="1" dirty="0">
                  <a:solidFill>
                    <a:schemeClr val="bg1"/>
                  </a:solidFill>
                  <a:latin typeface="Quicksand Medium" pitchFamily="2" charset="0"/>
                  <a:hlinkClick r:id="rId5">
                    <a:extLst>
                      <a:ext uri="{A12FA001-AC4F-418D-AE19-62706E023703}">
                        <ahyp:hlinkClr xmlns:ahyp="http://schemas.microsoft.com/office/drawing/2018/hyperlinkcolor" val="tx"/>
                      </a:ext>
                    </a:extLst>
                  </a:hlinkClick>
                </a:rPr>
                <a:t>UP Carteiras Administradas - 58.450.405/0001-01 </a:t>
              </a:r>
              <a:endParaRPr lang="pt-BR" sz="1000" b="1" dirty="0">
                <a:solidFill>
                  <a:schemeClr val="bg1"/>
                </a:solidFill>
                <a:latin typeface="Quicksand Medium" pitchFamily="2" charset="0"/>
              </a:endParaRPr>
            </a:p>
          </p:txBody>
        </p:sp>
      </p:grpSp>
      <p:pic>
        <p:nvPicPr>
          <p:cNvPr id="68" name="Picture 2">
            <a:hlinkClick r:id="rId6"/>
            <a:extLst>
              <a:ext uri="{FF2B5EF4-FFF2-40B4-BE49-F238E27FC236}">
                <a16:creationId xmlns:a16="http://schemas.microsoft.com/office/drawing/2014/main" id="{8186C908-1CB5-48E5-B18A-1DB26C6FF81B}"/>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245236" y="9385998"/>
            <a:ext cx="194999" cy="194999"/>
          </a:xfrm>
          <a:prstGeom prst="rect">
            <a:avLst/>
          </a:prstGeom>
          <a:noFill/>
          <a:extLst>
            <a:ext uri="{909E8E84-426E-40DD-AFC4-6F175D3DCCD1}">
              <a14:hiddenFill xmlns:a14="http://schemas.microsoft.com/office/drawing/2010/main">
                <a:solidFill>
                  <a:srgbClr val="FFFFFF"/>
                </a:solidFill>
              </a14:hiddenFill>
            </a:ext>
          </a:extLst>
        </p:spPr>
      </p:pic>
      <p:pic>
        <p:nvPicPr>
          <p:cNvPr id="75" name="Imagem 74">
            <a:hlinkClick r:id="rId9"/>
            <a:extLst>
              <a:ext uri="{FF2B5EF4-FFF2-40B4-BE49-F238E27FC236}">
                <a16:creationId xmlns:a16="http://schemas.microsoft.com/office/drawing/2014/main" id="{27A486DF-7AF1-483E-8F8C-0C60CE64B184}"/>
              </a:ext>
            </a:extLst>
          </p:cNvPr>
          <p:cNvPicPr>
            <a:picLocks noChangeAspect="1"/>
          </p:cNvPicPr>
          <p:nvPr/>
        </p:nvPicPr>
        <p:blipFill rotWithShape="1">
          <a:blip r:embed="rId10">
            <a:extLst>
              <a:ext uri="{28A0092B-C50C-407E-A947-70E740481C1C}">
                <a14:useLocalDpi xmlns:a14="http://schemas.microsoft.com/office/drawing/2010/main" val="0"/>
              </a:ext>
            </a:extLst>
          </a:blip>
          <a:srcRect l="20774" t="16895" r="18691" b="22295"/>
          <a:stretch/>
        </p:blipFill>
        <p:spPr>
          <a:xfrm>
            <a:off x="482964" y="9377810"/>
            <a:ext cx="209550" cy="210509"/>
          </a:xfrm>
          <a:prstGeom prst="rect">
            <a:avLst/>
          </a:prstGeom>
        </p:spPr>
      </p:pic>
      <p:sp>
        <p:nvSpPr>
          <p:cNvPr id="30" name="CaixaDeTexto 29">
            <a:extLst>
              <a:ext uri="{FF2B5EF4-FFF2-40B4-BE49-F238E27FC236}">
                <a16:creationId xmlns:a16="http://schemas.microsoft.com/office/drawing/2014/main" id="{31BAD37D-874E-490A-AFCB-E2B706AB48CA}"/>
              </a:ext>
            </a:extLst>
          </p:cNvPr>
          <p:cNvSpPr txBox="1"/>
          <p:nvPr/>
        </p:nvSpPr>
        <p:spPr>
          <a:xfrm>
            <a:off x="2159027" y="6079359"/>
            <a:ext cx="4588126" cy="1815882"/>
          </a:xfrm>
          <a:prstGeom prst="rect">
            <a:avLst/>
          </a:prstGeom>
          <a:noFill/>
        </p:spPr>
        <p:txBody>
          <a:bodyPr wrap="square">
            <a:spAutoFit/>
          </a:bodyPr>
          <a:lstStyle/>
          <a:p>
            <a:pPr algn="just"/>
            <a:r>
              <a:rPr lang="pt-BR" sz="800" dirty="0">
                <a:latin typeface="Quicksand" pitchFamily="2" charset="0"/>
              </a:rPr>
              <a:t>Fechamos o mês de novembro com uma </a:t>
            </a:r>
            <a:r>
              <a:rPr lang="pt-BR" sz="800" b="1" dirty="0">
                <a:solidFill>
                  <a:srgbClr val="003060"/>
                </a:solidFill>
                <a:latin typeface="Quicksand" pitchFamily="2" charset="0"/>
              </a:rPr>
              <a:t>rentabilidade líquida de 6,00%</a:t>
            </a:r>
            <a:r>
              <a:rPr lang="pt-BR" sz="800" dirty="0">
                <a:latin typeface="Quicksand" pitchFamily="2" charset="0"/>
              </a:rPr>
              <a:t>, frente a 3,13% do IFIX (com um alpha de 2,86%) e 0,96% do CDI </a:t>
            </a:r>
            <a:r>
              <a:rPr lang="pt-BR" sz="800" i="1" dirty="0" err="1">
                <a:latin typeface="Quicksand" pitchFamily="2" charset="0"/>
              </a:rPr>
              <a:t>gross-up</a:t>
            </a:r>
            <a:r>
              <a:rPr lang="pt-BR" sz="800" dirty="0">
                <a:latin typeface="Quicksand" pitchFamily="2" charset="0"/>
              </a:rPr>
              <a:t> (alpha de 5,03%). Pudemos aproveitar bem o breve </a:t>
            </a:r>
            <a:r>
              <a:rPr lang="pt-BR" sz="800" dirty="0" err="1">
                <a:latin typeface="Quicksand" pitchFamily="2" charset="0"/>
              </a:rPr>
              <a:t>rally</a:t>
            </a:r>
            <a:r>
              <a:rPr lang="pt-BR" sz="800" dirty="0">
                <a:latin typeface="Quicksand" pitchFamily="2" charset="0"/>
              </a:rPr>
              <a:t> no fim do ano e, com isso, fechamos a performance do ano para a carteira. Além disso, para o ano de 2026 seguiremos desenvolvendo estratégias e aprimorando o sistema de negociações para melhor aproveitar as distorções no mercado de fundos listados. Para isso, iniciamos a reestruturação da nossa plataforma para trazer mais agilidade com o sistema UP 5.0.</a:t>
            </a:r>
          </a:p>
          <a:p>
            <a:pPr algn="just"/>
            <a:endParaRPr lang="pt-BR" sz="800" dirty="0">
              <a:latin typeface="Quicksand" pitchFamily="2" charset="0"/>
            </a:endParaRPr>
          </a:p>
          <a:p>
            <a:pPr algn="just"/>
            <a:endParaRPr lang="pt-BR" sz="800" dirty="0">
              <a:latin typeface="Quicksand" pitchFamily="2" charset="0"/>
            </a:endParaRPr>
          </a:p>
          <a:p>
            <a:pPr algn="just"/>
            <a:r>
              <a:rPr lang="pt-BR" sz="800" dirty="0">
                <a:latin typeface="Quicksand" pitchFamily="2" charset="0"/>
              </a:rPr>
              <a:t>Até o momento, mantemos um </a:t>
            </a:r>
            <a:r>
              <a:rPr lang="pt-BR" sz="800" b="1" dirty="0">
                <a:solidFill>
                  <a:srgbClr val="003060"/>
                </a:solidFill>
                <a:latin typeface="Quicksand" pitchFamily="2" charset="0"/>
              </a:rPr>
              <a:t>retorno líquido de 43,55% desde o início da carteira</a:t>
            </a:r>
            <a:r>
              <a:rPr lang="pt-BR" sz="800" dirty="0">
                <a:latin typeface="Quicksand" pitchFamily="2" charset="0"/>
              </a:rPr>
              <a:t>, o que representa um alpha de 28,32% em relação ao IFIX e 26,57% em relação ao CDI </a:t>
            </a:r>
            <a:r>
              <a:rPr lang="pt-BR" sz="800" i="1" dirty="0" err="1">
                <a:latin typeface="Quicksand" pitchFamily="2" charset="0"/>
              </a:rPr>
              <a:t>gross-up</a:t>
            </a:r>
            <a:r>
              <a:rPr lang="pt-BR" sz="800" dirty="0">
                <a:latin typeface="Quicksand" pitchFamily="2" charset="0"/>
              </a:rPr>
              <a:t>.</a:t>
            </a:r>
          </a:p>
          <a:p>
            <a:pPr algn="just"/>
            <a:endParaRPr lang="pt-BR" sz="800" dirty="0">
              <a:latin typeface="Quicksand" pitchFamily="2" charset="0"/>
            </a:endParaRPr>
          </a:p>
          <a:p>
            <a:pPr algn="just"/>
            <a:r>
              <a:rPr lang="pt-BR" sz="800" dirty="0">
                <a:latin typeface="Quicksand" pitchFamily="2" charset="0"/>
              </a:rPr>
              <a:t>Atuamos via carteira administrada, com execução direta na conta do investidor. </a:t>
            </a:r>
            <a:r>
              <a:rPr lang="pt-BR" sz="800" b="1" dirty="0">
                <a:solidFill>
                  <a:srgbClr val="003060"/>
                </a:solidFill>
                <a:latin typeface="Quicksand" pitchFamily="2" charset="0"/>
              </a:rPr>
              <a:t>Investimento exclusivamente via BTG — contato Igor: WhatsApp (11) 97440-3788.</a:t>
            </a:r>
          </a:p>
        </p:txBody>
      </p:sp>
      <p:sp>
        <p:nvSpPr>
          <p:cNvPr id="69" name="CaixaDeTexto 68">
            <a:extLst>
              <a:ext uri="{FF2B5EF4-FFF2-40B4-BE49-F238E27FC236}">
                <a16:creationId xmlns:a16="http://schemas.microsoft.com/office/drawing/2014/main" id="{18F5E690-1154-4D2E-8D89-A804768457E6}"/>
              </a:ext>
            </a:extLst>
          </p:cNvPr>
          <p:cNvSpPr txBox="1"/>
          <p:nvPr/>
        </p:nvSpPr>
        <p:spPr>
          <a:xfrm>
            <a:off x="87231" y="679194"/>
            <a:ext cx="6695816" cy="1200329"/>
          </a:xfrm>
          <a:prstGeom prst="rect">
            <a:avLst/>
          </a:prstGeom>
          <a:noFill/>
        </p:spPr>
        <p:txBody>
          <a:bodyPr wrap="square" rtlCol="0">
            <a:spAutoFit/>
          </a:bodyPr>
          <a:lstStyle/>
          <a:p>
            <a:pPr algn="just"/>
            <a:r>
              <a:rPr lang="pt-BR" sz="800" dirty="0">
                <a:latin typeface="Quicksand" pitchFamily="2" charset="0"/>
                <a:ea typeface="+mj-ea"/>
                <a:cs typeface="+mj-cs"/>
              </a:rPr>
              <a:t>A Carteira Tática UP se </a:t>
            </a:r>
            <a:r>
              <a:rPr lang="pt-BR" sz="800" b="1" dirty="0">
                <a:solidFill>
                  <a:srgbClr val="003060"/>
                </a:solidFill>
                <a:latin typeface="Quicksand" pitchFamily="2" charset="0"/>
                <a:ea typeface="+mj-ea"/>
                <a:cs typeface="+mj-cs"/>
              </a:rPr>
              <a:t>encontra aberta para captação</a:t>
            </a:r>
            <a:r>
              <a:rPr lang="pt-BR" sz="800" dirty="0">
                <a:latin typeface="Quicksand" pitchFamily="2" charset="0"/>
                <a:ea typeface="+mj-ea"/>
                <a:cs typeface="+mj-cs"/>
              </a:rPr>
              <a:t>, buscando gerar alpha tanto sobre o IFIX quanto sobre o CDI no longo prazo. Trata-se de uma </a:t>
            </a:r>
            <a:r>
              <a:rPr lang="pt-BR" sz="800" b="1" dirty="0">
                <a:solidFill>
                  <a:srgbClr val="003060"/>
                </a:solidFill>
                <a:latin typeface="Quicksand" pitchFamily="2" charset="0"/>
                <a:ea typeface="+mj-ea"/>
                <a:cs typeface="+mj-cs"/>
              </a:rPr>
              <a:t>estratégia focada em fundos imobiliários, agro e </a:t>
            </a:r>
            <a:r>
              <a:rPr lang="pt-BR" sz="800" b="1" dirty="0" err="1">
                <a:solidFill>
                  <a:srgbClr val="003060"/>
                </a:solidFill>
                <a:latin typeface="Quicksand" pitchFamily="2" charset="0"/>
                <a:ea typeface="+mj-ea"/>
                <a:cs typeface="+mj-cs"/>
              </a:rPr>
              <a:t>infras</a:t>
            </a:r>
            <a:r>
              <a:rPr lang="pt-BR" sz="800" b="1" dirty="0">
                <a:solidFill>
                  <a:srgbClr val="003060"/>
                </a:solidFill>
                <a:latin typeface="Quicksand" pitchFamily="2" charset="0"/>
                <a:ea typeface="+mj-ea"/>
                <a:cs typeface="+mj-cs"/>
              </a:rPr>
              <a:t> </a:t>
            </a:r>
            <a:r>
              <a:rPr lang="pt-BR" sz="800" dirty="0">
                <a:latin typeface="Quicksand" pitchFamily="2" charset="0"/>
                <a:ea typeface="+mj-ea"/>
                <a:cs typeface="+mj-cs"/>
              </a:rPr>
              <a:t>que identifica movimentos de mercado e oportunidades geradas por eventuais distorções juntos de um acompanhamento próximo da classe de ativos.</a:t>
            </a:r>
          </a:p>
          <a:p>
            <a:pPr algn="just"/>
            <a:endParaRPr lang="pt-BR" sz="800" dirty="0">
              <a:latin typeface="Quicksand" pitchFamily="2" charset="0"/>
              <a:ea typeface="+mj-ea"/>
              <a:cs typeface="+mj-cs"/>
            </a:endParaRPr>
          </a:p>
          <a:p>
            <a:pPr algn="just"/>
            <a:r>
              <a:rPr lang="pt-BR" sz="800" dirty="0">
                <a:latin typeface="Quicksand" pitchFamily="2" charset="0"/>
                <a:ea typeface="+mj-ea"/>
                <a:cs typeface="+mj-cs"/>
              </a:rPr>
              <a:t>Para fins de esclarecimento, o </a:t>
            </a:r>
            <a:r>
              <a:rPr lang="pt-BR" sz="800" b="1" dirty="0">
                <a:solidFill>
                  <a:srgbClr val="003060"/>
                </a:solidFill>
                <a:latin typeface="Quicksand" pitchFamily="2" charset="0"/>
                <a:ea typeface="+mj-ea"/>
                <a:cs typeface="+mj-cs"/>
              </a:rPr>
              <a:t>núcleo de geração de retorno vem da estratégia de fundos listados</a:t>
            </a:r>
            <a:r>
              <a:rPr lang="pt-BR" sz="800" dirty="0">
                <a:latin typeface="Quicksand" pitchFamily="2" charset="0"/>
                <a:ea typeface="+mj-ea"/>
                <a:cs typeface="+mj-cs"/>
              </a:rPr>
              <a:t>, mas também é possível estabelecer posições em ações, </a:t>
            </a:r>
            <a:r>
              <a:rPr lang="pt-BR" sz="800" dirty="0" err="1">
                <a:latin typeface="Quicksand" pitchFamily="2" charset="0"/>
                <a:ea typeface="+mj-ea"/>
                <a:cs typeface="+mj-cs"/>
              </a:rPr>
              <a:t>ETFs</a:t>
            </a:r>
            <a:r>
              <a:rPr lang="pt-BR" sz="800" dirty="0">
                <a:latin typeface="Quicksand" pitchFamily="2" charset="0"/>
                <a:ea typeface="+mj-ea"/>
                <a:cs typeface="+mj-cs"/>
              </a:rPr>
              <a:t> e outros tipos de oportunidades no mercado de renda variável.</a:t>
            </a:r>
          </a:p>
          <a:p>
            <a:pPr algn="just"/>
            <a:endParaRPr lang="pt-BR" sz="800" dirty="0">
              <a:latin typeface="Quicksand" pitchFamily="2" charset="0"/>
              <a:ea typeface="+mj-ea"/>
              <a:cs typeface="+mj-cs"/>
            </a:endParaRPr>
          </a:p>
          <a:p>
            <a:pPr algn="just"/>
            <a:r>
              <a:rPr lang="pt-BR" sz="800" dirty="0">
                <a:latin typeface="Quicksand" pitchFamily="2" charset="0"/>
                <a:ea typeface="+mj-ea"/>
                <a:cs typeface="+mj-cs"/>
              </a:rPr>
              <a:t>Por questões de equilíbrio no modelo estatístico, a capacidade de alocação é limitada para preservar eficiência de execução. Portanto, </a:t>
            </a:r>
            <a:r>
              <a:rPr lang="pt-BR" sz="800" b="1" dirty="0">
                <a:solidFill>
                  <a:srgbClr val="003060"/>
                </a:solidFill>
                <a:latin typeface="Quicksand" pitchFamily="2" charset="0"/>
                <a:ea typeface="+mj-ea"/>
                <a:cs typeface="+mj-cs"/>
              </a:rPr>
              <a:t>novas entradas estão sendo recebidas enquanto há espaço</a:t>
            </a:r>
            <a:r>
              <a:rPr lang="pt-BR" sz="800" dirty="0">
                <a:latin typeface="Quicksand" pitchFamily="2" charset="0"/>
                <a:ea typeface="+mj-ea"/>
                <a:cs typeface="+mj-cs"/>
              </a:rPr>
              <a:t>.</a:t>
            </a:r>
          </a:p>
        </p:txBody>
      </p:sp>
      <p:cxnSp>
        <p:nvCxnSpPr>
          <p:cNvPr id="78" name="Conector reto 77">
            <a:extLst>
              <a:ext uri="{FF2B5EF4-FFF2-40B4-BE49-F238E27FC236}">
                <a16:creationId xmlns:a16="http://schemas.microsoft.com/office/drawing/2014/main" id="{F0E857A9-D7B7-4F6C-B42B-2739E1AC11BB}"/>
              </a:ext>
            </a:extLst>
          </p:cNvPr>
          <p:cNvCxnSpPr>
            <a:cxnSpLocks/>
          </p:cNvCxnSpPr>
          <p:nvPr/>
        </p:nvCxnSpPr>
        <p:spPr>
          <a:xfrm>
            <a:off x="166688" y="1971429"/>
            <a:ext cx="6616358" cy="0"/>
          </a:xfrm>
          <a:prstGeom prst="line">
            <a:avLst/>
          </a:prstGeom>
          <a:ln w="38100">
            <a:solidFill>
              <a:srgbClr val="003060"/>
            </a:solidFill>
          </a:ln>
        </p:spPr>
        <p:style>
          <a:lnRef idx="1">
            <a:schemeClr val="accent1"/>
          </a:lnRef>
          <a:fillRef idx="0">
            <a:schemeClr val="accent1"/>
          </a:fillRef>
          <a:effectRef idx="0">
            <a:schemeClr val="accent1"/>
          </a:effectRef>
          <a:fontRef idx="minor">
            <a:schemeClr val="tx1"/>
          </a:fontRef>
        </p:style>
      </p:cxnSp>
      <p:pic>
        <p:nvPicPr>
          <p:cNvPr id="80" name="Imagem 79">
            <a:extLst>
              <a:ext uri="{FF2B5EF4-FFF2-40B4-BE49-F238E27FC236}">
                <a16:creationId xmlns:a16="http://schemas.microsoft.com/office/drawing/2014/main" id="{F3ED3F2D-19A5-429E-8404-4CDC745CDAC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7501" y="-108997"/>
            <a:ext cx="814868" cy="814868"/>
          </a:xfrm>
          <a:prstGeom prst="rect">
            <a:avLst/>
          </a:prstGeom>
        </p:spPr>
      </p:pic>
      <p:sp>
        <p:nvSpPr>
          <p:cNvPr id="82" name="Retângulo: Cantos Arredondados 81">
            <a:extLst>
              <a:ext uri="{FF2B5EF4-FFF2-40B4-BE49-F238E27FC236}">
                <a16:creationId xmlns:a16="http://schemas.microsoft.com/office/drawing/2014/main" id="{5AABD4EA-8274-4328-9961-42DDC3C8A55E}"/>
              </a:ext>
            </a:extLst>
          </p:cNvPr>
          <p:cNvSpPr/>
          <p:nvPr/>
        </p:nvSpPr>
        <p:spPr>
          <a:xfrm>
            <a:off x="2204886" y="8015487"/>
            <a:ext cx="4522548" cy="1239625"/>
          </a:xfrm>
          <a:prstGeom prst="roundRect">
            <a:avLst>
              <a:gd name="adj" fmla="val 6303"/>
            </a:avLst>
          </a:prstGeom>
          <a:solidFill>
            <a:srgbClr val="003060"/>
          </a:solidFill>
          <a:ln>
            <a:solidFill>
              <a:srgbClr val="003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pt-BR" sz="800" dirty="0"/>
          </a:p>
          <a:p>
            <a:pPr marL="171450" indent="-171450">
              <a:buFont typeface="Arial" panose="020B0604020202020204" pitchFamily="34" charset="0"/>
              <a:buChar char="•"/>
            </a:pPr>
            <a:endParaRPr lang="pt-BR" sz="800" dirty="0"/>
          </a:p>
          <a:p>
            <a:pPr marL="171450" indent="-171450">
              <a:buFont typeface="Arial" panose="020B0604020202020204" pitchFamily="34" charset="0"/>
              <a:buChar char="•"/>
            </a:pPr>
            <a:r>
              <a:rPr lang="pt-BR" sz="800" dirty="0"/>
              <a:t>Estratégia sistemática em </a:t>
            </a:r>
            <a:r>
              <a:rPr lang="pt-BR" sz="800" dirty="0" err="1"/>
              <a:t>FIIs</a:t>
            </a:r>
            <a:r>
              <a:rPr lang="pt-BR" sz="800" dirty="0"/>
              <a:t>;</a:t>
            </a:r>
          </a:p>
          <a:p>
            <a:pPr marL="171450" indent="-171450">
              <a:buFont typeface="Arial" panose="020B0604020202020204" pitchFamily="34" charset="0"/>
              <a:buChar char="•"/>
            </a:pPr>
            <a:r>
              <a:rPr lang="pt-BR" sz="800" dirty="0"/>
              <a:t>Gestão de risco dinâmica e automatizada via sistema interno;</a:t>
            </a:r>
          </a:p>
          <a:p>
            <a:pPr marL="171450" indent="-171450">
              <a:buFont typeface="Arial" panose="020B0604020202020204" pitchFamily="34" charset="0"/>
              <a:buChar char="•"/>
            </a:pPr>
            <a:r>
              <a:rPr lang="pt-BR" sz="800" dirty="0"/>
              <a:t>Controle de </a:t>
            </a:r>
            <a:r>
              <a:rPr lang="pt-BR" sz="800" dirty="0" err="1"/>
              <a:t>drawdown</a:t>
            </a:r>
            <a:r>
              <a:rPr lang="pt-BR" sz="800" dirty="0"/>
              <a:t> e stop técnico com mecanismos de segurança ágil;</a:t>
            </a:r>
          </a:p>
          <a:p>
            <a:pPr marL="171450" indent="-171450">
              <a:buFont typeface="Arial" panose="020B0604020202020204" pitchFamily="34" charset="0"/>
              <a:buChar char="•"/>
            </a:pPr>
            <a:r>
              <a:rPr lang="pt-BR" sz="800" dirty="0"/>
              <a:t>Exposição regrada por controle interno com consultores externos;</a:t>
            </a:r>
          </a:p>
          <a:p>
            <a:pPr marL="171450" indent="-171450">
              <a:buFont typeface="Arial" panose="020B0604020202020204" pitchFamily="34" charset="0"/>
              <a:buChar char="•"/>
            </a:pPr>
            <a:r>
              <a:rPr lang="pt-BR" sz="800" dirty="0"/>
              <a:t>Revisão mensal de parâmetros e performance;</a:t>
            </a:r>
          </a:p>
          <a:p>
            <a:pPr marL="171450" indent="-171450">
              <a:buFont typeface="Arial" panose="020B0604020202020204" pitchFamily="34" charset="0"/>
              <a:buChar char="•"/>
            </a:pPr>
            <a:r>
              <a:rPr lang="pt-BR" sz="800" dirty="0"/>
              <a:t>Monitoramento contínuo de mercado em tempo real 24/7.</a:t>
            </a:r>
          </a:p>
        </p:txBody>
      </p:sp>
      <p:pic>
        <p:nvPicPr>
          <p:cNvPr id="48" name="Imagem 47" descr="Conexões">
            <a:hlinkClick r:id="rId5"/>
            <a:extLst>
              <a:ext uri="{FF2B5EF4-FFF2-40B4-BE49-F238E27FC236}">
                <a16:creationId xmlns:a16="http://schemas.microsoft.com/office/drawing/2014/main" id="{F45A15B5-6BF1-4202-A5CB-0D6E2B09916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28" r="228"/>
          <a:stretch/>
        </p:blipFill>
        <p:spPr>
          <a:xfrm>
            <a:off x="727594" y="9377810"/>
            <a:ext cx="209550" cy="210509"/>
          </a:xfrm>
          <a:prstGeom prst="rect">
            <a:avLst/>
          </a:prstGeom>
        </p:spPr>
      </p:pic>
      <p:sp>
        <p:nvSpPr>
          <p:cNvPr id="52" name="CaixaDeTexto 51">
            <a:extLst>
              <a:ext uri="{FF2B5EF4-FFF2-40B4-BE49-F238E27FC236}">
                <a16:creationId xmlns:a16="http://schemas.microsoft.com/office/drawing/2014/main" id="{E88D6D62-1547-421F-AEB5-DD5DD2A44726}"/>
              </a:ext>
            </a:extLst>
          </p:cNvPr>
          <p:cNvSpPr txBox="1"/>
          <p:nvPr/>
        </p:nvSpPr>
        <p:spPr>
          <a:xfrm>
            <a:off x="2204886" y="8010085"/>
            <a:ext cx="4681099" cy="369332"/>
          </a:xfrm>
          <a:prstGeom prst="rect">
            <a:avLst/>
          </a:prstGeom>
          <a:noFill/>
        </p:spPr>
        <p:txBody>
          <a:bodyPr wrap="square" rtlCol="0">
            <a:spAutoFit/>
          </a:bodyPr>
          <a:lstStyle/>
          <a:p>
            <a:r>
              <a:rPr lang="pt-BR" dirty="0">
                <a:solidFill>
                  <a:schemeClr val="bg1"/>
                </a:solidFill>
                <a:latin typeface="Quicksand Medium" pitchFamily="2" charset="0"/>
                <a:ea typeface="+mj-ea"/>
                <a:cs typeface="+mj-cs"/>
              </a:rPr>
              <a:t>Operacional</a:t>
            </a:r>
          </a:p>
        </p:txBody>
      </p:sp>
      <p:sp>
        <p:nvSpPr>
          <p:cNvPr id="91" name="Retângulo 90">
            <a:extLst>
              <a:ext uri="{FF2B5EF4-FFF2-40B4-BE49-F238E27FC236}">
                <a16:creationId xmlns:a16="http://schemas.microsoft.com/office/drawing/2014/main" id="{93E20B0A-9C76-4441-93AE-8BACAB888C5D}"/>
              </a:ext>
            </a:extLst>
          </p:cNvPr>
          <p:cNvSpPr/>
          <p:nvPr/>
        </p:nvSpPr>
        <p:spPr>
          <a:xfrm rot="5400000">
            <a:off x="6297490" y="2677071"/>
            <a:ext cx="807694" cy="1940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900" b="1" dirty="0">
                <a:solidFill>
                  <a:srgbClr val="003060"/>
                </a:solidFill>
              </a:rPr>
              <a:t>IFIX+ 28,32%</a:t>
            </a:r>
          </a:p>
        </p:txBody>
      </p:sp>
      <p:grpSp>
        <p:nvGrpSpPr>
          <p:cNvPr id="92" name="Agrupar 91">
            <a:extLst>
              <a:ext uri="{FF2B5EF4-FFF2-40B4-BE49-F238E27FC236}">
                <a16:creationId xmlns:a16="http://schemas.microsoft.com/office/drawing/2014/main" id="{F9C8408E-1DF3-40E1-B257-D9827910579A}"/>
              </a:ext>
            </a:extLst>
          </p:cNvPr>
          <p:cNvGrpSpPr/>
          <p:nvPr/>
        </p:nvGrpSpPr>
        <p:grpSpPr>
          <a:xfrm>
            <a:off x="6503126" y="2651415"/>
            <a:ext cx="90507" cy="807694"/>
            <a:chOff x="10190176" y="2182346"/>
            <a:chExt cx="120676" cy="2493307"/>
          </a:xfrm>
        </p:grpSpPr>
        <p:grpSp>
          <p:nvGrpSpPr>
            <p:cNvPr id="93" name="Agrupar 92">
              <a:extLst>
                <a:ext uri="{FF2B5EF4-FFF2-40B4-BE49-F238E27FC236}">
                  <a16:creationId xmlns:a16="http://schemas.microsoft.com/office/drawing/2014/main" id="{0FD24A4B-AB23-4CB6-802F-0C01D8D77CEB}"/>
                </a:ext>
              </a:extLst>
            </p:cNvPr>
            <p:cNvGrpSpPr/>
            <p:nvPr/>
          </p:nvGrpSpPr>
          <p:grpSpPr>
            <a:xfrm>
              <a:off x="10190176" y="2182346"/>
              <a:ext cx="60338" cy="2493307"/>
              <a:chOff x="11896724" y="2092341"/>
              <a:chExt cx="60338" cy="2493307"/>
            </a:xfrm>
          </p:grpSpPr>
          <p:cxnSp>
            <p:nvCxnSpPr>
              <p:cNvPr id="95" name="Conector reto 94">
                <a:extLst>
                  <a:ext uri="{FF2B5EF4-FFF2-40B4-BE49-F238E27FC236}">
                    <a16:creationId xmlns:a16="http://schemas.microsoft.com/office/drawing/2014/main" id="{AD74B2EA-4D48-4493-9072-9C4D4DC4DC91}"/>
                  </a:ext>
                </a:extLst>
              </p:cNvPr>
              <p:cNvCxnSpPr/>
              <p:nvPr/>
            </p:nvCxnSpPr>
            <p:spPr>
              <a:xfrm>
                <a:off x="11957062" y="2092341"/>
                <a:ext cx="0" cy="2493307"/>
              </a:xfrm>
              <a:prstGeom prst="line">
                <a:avLst/>
              </a:prstGeom>
              <a:ln>
                <a:solidFill>
                  <a:srgbClr val="003060"/>
                </a:solidFill>
              </a:ln>
            </p:spPr>
            <p:style>
              <a:lnRef idx="1">
                <a:schemeClr val="accent1"/>
              </a:lnRef>
              <a:fillRef idx="0">
                <a:schemeClr val="accent1"/>
              </a:fillRef>
              <a:effectRef idx="0">
                <a:schemeClr val="accent1"/>
              </a:effectRef>
              <a:fontRef idx="minor">
                <a:schemeClr val="tx1"/>
              </a:fontRef>
            </p:style>
          </p:cxnSp>
          <p:cxnSp>
            <p:nvCxnSpPr>
              <p:cNvPr id="96" name="Conector reto 95">
                <a:extLst>
                  <a:ext uri="{FF2B5EF4-FFF2-40B4-BE49-F238E27FC236}">
                    <a16:creationId xmlns:a16="http://schemas.microsoft.com/office/drawing/2014/main" id="{BF03ED24-AFC6-4008-8BA6-8F5DD418A821}"/>
                  </a:ext>
                </a:extLst>
              </p:cNvPr>
              <p:cNvCxnSpPr>
                <a:cxnSpLocks/>
              </p:cNvCxnSpPr>
              <p:nvPr/>
            </p:nvCxnSpPr>
            <p:spPr>
              <a:xfrm flipH="1">
                <a:off x="11896724" y="4581249"/>
                <a:ext cx="60338" cy="0"/>
              </a:xfrm>
              <a:prstGeom prst="line">
                <a:avLst/>
              </a:prstGeom>
              <a:ln>
                <a:solidFill>
                  <a:srgbClr val="003060"/>
                </a:solidFill>
              </a:ln>
            </p:spPr>
            <p:style>
              <a:lnRef idx="1">
                <a:schemeClr val="accent1"/>
              </a:lnRef>
              <a:fillRef idx="0">
                <a:schemeClr val="accent1"/>
              </a:fillRef>
              <a:effectRef idx="0">
                <a:schemeClr val="accent1"/>
              </a:effectRef>
              <a:fontRef idx="minor">
                <a:schemeClr val="tx1"/>
              </a:fontRef>
            </p:style>
          </p:cxnSp>
          <p:cxnSp>
            <p:nvCxnSpPr>
              <p:cNvPr id="97" name="Conector reto 96">
                <a:extLst>
                  <a:ext uri="{FF2B5EF4-FFF2-40B4-BE49-F238E27FC236}">
                    <a16:creationId xmlns:a16="http://schemas.microsoft.com/office/drawing/2014/main" id="{B0A1DE31-7467-4C0D-A9E2-EF994D18212F}"/>
                  </a:ext>
                </a:extLst>
              </p:cNvPr>
              <p:cNvCxnSpPr>
                <a:cxnSpLocks/>
              </p:cNvCxnSpPr>
              <p:nvPr/>
            </p:nvCxnSpPr>
            <p:spPr>
              <a:xfrm flipH="1">
                <a:off x="11896724" y="2092341"/>
                <a:ext cx="60338" cy="0"/>
              </a:xfrm>
              <a:prstGeom prst="line">
                <a:avLst/>
              </a:prstGeom>
              <a:ln>
                <a:solidFill>
                  <a:srgbClr val="003060"/>
                </a:solidFill>
              </a:ln>
            </p:spPr>
            <p:style>
              <a:lnRef idx="1">
                <a:schemeClr val="accent1"/>
              </a:lnRef>
              <a:fillRef idx="0">
                <a:schemeClr val="accent1"/>
              </a:fillRef>
              <a:effectRef idx="0">
                <a:schemeClr val="accent1"/>
              </a:effectRef>
              <a:fontRef idx="minor">
                <a:schemeClr val="tx1"/>
              </a:fontRef>
            </p:style>
          </p:cxnSp>
        </p:grpSp>
        <p:cxnSp>
          <p:nvCxnSpPr>
            <p:cNvPr id="94" name="Conector reto 93">
              <a:extLst>
                <a:ext uri="{FF2B5EF4-FFF2-40B4-BE49-F238E27FC236}">
                  <a16:creationId xmlns:a16="http://schemas.microsoft.com/office/drawing/2014/main" id="{73C300BE-8813-4150-A991-EDDECDDF4BF9}"/>
                </a:ext>
              </a:extLst>
            </p:cNvPr>
            <p:cNvCxnSpPr>
              <a:cxnSpLocks/>
            </p:cNvCxnSpPr>
            <p:nvPr/>
          </p:nvCxnSpPr>
          <p:spPr>
            <a:xfrm flipH="1">
              <a:off x="10250514" y="2489501"/>
              <a:ext cx="60338" cy="0"/>
            </a:xfrm>
            <a:prstGeom prst="line">
              <a:avLst/>
            </a:prstGeom>
            <a:ln>
              <a:solidFill>
                <a:srgbClr val="003060"/>
              </a:solidFill>
            </a:ln>
          </p:spPr>
          <p:style>
            <a:lnRef idx="1">
              <a:schemeClr val="accent1"/>
            </a:lnRef>
            <a:fillRef idx="0">
              <a:schemeClr val="accent1"/>
            </a:fillRef>
            <a:effectRef idx="0">
              <a:schemeClr val="accent1"/>
            </a:effectRef>
            <a:fontRef idx="minor">
              <a:schemeClr val="tx1"/>
            </a:fontRef>
          </p:style>
        </p:cxnSp>
      </p:grpSp>
      <p:sp>
        <p:nvSpPr>
          <p:cNvPr id="98" name="Retângulo 97">
            <a:extLst>
              <a:ext uri="{FF2B5EF4-FFF2-40B4-BE49-F238E27FC236}">
                <a16:creationId xmlns:a16="http://schemas.microsoft.com/office/drawing/2014/main" id="{E9EC02F5-8F8F-40F3-8F13-8CD2FCF5E0D0}"/>
              </a:ext>
            </a:extLst>
          </p:cNvPr>
          <p:cNvSpPr/>
          <p:nvPr/>
        </p:nvSpPr>
        <p:spPr>
          <a:xfrm rot="5400000">
            <a:off x="6297465" y="3341080"/>
            <a:ext cx="807694" cy="1940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900" b="1" dirty="0">
                <a:solidFill>
                  <a:srgbClr val="00B050"/>
                </a:solidFill>
              </a:rPr>
              <a:t>CDI+ 26,57%</a:t>
            </a:r>
          </a:p>
        </p:txBody>
      </p:sp>
      <p:grpSp>
        <p:nvGrpSpPr>
          <p:cNvPr id="99" name="Agrupar 98">
            <a:extLst>
              <a:ext uri="{FF2B5EF4-FFF2-40B4-BE49-F238E27FC236}">
                <a16:creationId xmlns:a16="http://schemas.microsoft.com/office/drawing/2014/main" id="{89EADD7E-4540-4BAD-B237-29D95B35FE4F}"/>
              </a:ext>
            </a:extLst>
          </p:cNvPr>
          <p:cNvGrpSpPr/>
          <p:nvPr/>
        </p:nvGrpSpPr>
        <p:grpSpPr>
          <a:xfrm>
            <a:off x="6503104" y="2651415"/>
            <a:ext cx="90530" cy="825207"/>
            <a:chOff x="6313910" y="3621337"/>
            <a:chExt cx="90530" cy="1022134"/>
          </a:xfrm>
        </p:grpSpPr>
        <p:grpSp>
          <p:nvGrpSpPr>
            <p:cNvPr id="100" name="Agrupar 99">
              <a:extLst>
                <a:ext uri="{FF2B5EF4-FFF2-40B4-BE49-F238E27FC236}">
                  <a16:creationId xmlns:a16="http://schemas.microsoft.com/office/drawing/2014/main" id="{F02862FF-B7B3-41A0-86AC-805772ADF65A}"/>
                </a:ext>
              </a:extLst>
            </p:cNvPr>
            <p:cNvGrpSpPr/>
            <p:nvPr/>
          </p:nvGrpSpPr>
          <p:grpSpPr>
            <a:xfrm>
              <a:off x="6313910" y="3621337"/>
              <a:ext cx="45253" cy="1022134"/>
              <a:chOff x="11896724" y="2092341"/>
              <a:chExt cx="60338" cy="2493307"/>
            </a:xfrm>
          </p:grpSpPr>
          <p:cxnSp>
            <p:nvCxnSpPr>
              <p:cNvPr id="102" name="Conector reto 101">
                <a:extLst>
                  <a:ext uri="{FF2B5EF4-FFF2-40B4-BE49-F238E27FC236}">
                    <a16:creationId xmlns:a16="http://schemas.microsoft.com/office/drawing/2014/main" id="{E9EF8D1E-78B9-421B-B1E9-5532A556B740}"/>
                  </a:ext>
                </a:extLst>
              </p:cNvPr>
              <p:cNvCxnSpPr/>
              <p:nvPr/>
            </p:nvCxnSpPr>
            <p:spPr>
              <a:xfrm>
                <a:off x="11957062" y="2092341"/>
                <a:ext cx="0" cy="249330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3" name="Conector reto 102">
                <a:extLst>
                  <a:ext uri="{FF2B5EF4-FFF2-40B4-BE49-F238E27FC236}">
                    <a16:creationId xmlns:a16="http://schemas.microsoft.com/office/drawing/2014/main" id="{787992EF-0FF5-4A3A-B5AF-A8330C267649}"/>
                  </a:ext>
                </a:extLst>
              </p:cNvPr>
              <p:cNvCxnSpPr>
                <a:cxnSpLocks/>
              </p:cNvCxnSpPr>
              <p:nvPr/>
            </p:nvCxnSpPr>
            <p:spPr>
              <a:xfrm flipH="1">
                <a:off x="11896724" y="4581249"/>
                <a:ext cx="60338"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4" name="Conector reto 103">
                <a:extLst>
                  <a:ext uri="{FF2B5EF4-FFF2-40B4-BE49-F238E27FC236}">
                    <a16:creationId xmlns:a16="http://schemas.microsoft.com/office/drawing/2014/main" id="{3CD5F48F-076F-4DC5-BEFC-FA81763DBB44}"/>
                  </a:ext>
                </a:extLst>
              </p:cNvPr>
              <p:cNvCxnSpPr>
                <a:cxnSpLocks/>
              </p:cNvCxnSpPr>
              <p:nvPr/>
            </p:nvCxnSpPr>
            <p:spPr>
              <a:xfrm flipH="1">
                <a:off x="11896724" y="2092341"/>
                <a:ext cx="60338"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101" name="Conector reto 100">
              <a:extLst>
                <a:ext uri="{FF2B5EF4-FFF2-40B4-BE49-F238E27FC236}">
                  <a16:creationId xmlns:a16="http://schemas.microsoft.com/office/drawing/2014/main" id="{F42AB707-F6C8-4475-A055-E2FEE9871F22}"/>
                </a:ext>
              </a:extLst>
            </p:cNvPr>
            <p:cNvCxnSpPr>
              <a:cxnSpLocks/>
            </p:cNvCxnSpPr>
            <p:nvPr/>
          </p:nvCxnSpPr>
          <p:spPr>
            <a:xfrm flipH="1">
              <a:off x="6359186" y="4429429"/>
              <a:ext cx="45254"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grpSp>
      <p:graphicFrame>
        <p:nvGraphicFramePr>
          <p:cNvPr id="105" name="Gráfico 104">
            <a:extLst>
              <a:ext uri="{FF2B5EF4-FFF2-40B4-BE49-F238E27FC236}">
                <a16:creationId xmlns:a16="http://schemas.microsoft.com/office/drawing/2014/main" id="{A63EC816-155C-4051-A53F-07784578500E}"/>
              </a:ext>
            </a:extLst>
          </p:cNvPr>
          <p:cNvGraphicFramePr>
            <a:graphicFrameLocks/>
          </p:cNvGraphicFramePr>
          <p:nvPr/>
        </p:nvGraphicFramePr>
        <p:xfrm>
          <a:off x="-305420" y="6402790"/>
          <a:ext cx="2717146" cy="1912112"/>
        </p:xfrm>
        <a:graphic>
          <a:graphicData uri="http://schemas.openxmlformats.org/drawingml/2006/chart">
            <c:chart xmlns:c="http://schemas.openxmlformats.org/drawingml/2006/chart" xmlns:r="http://schemas.openxmlformats.org/officeDocument/2006/relationships" r:id="rId14"/>
          </a:graphicData>
        </a:graphic>
      </p:graphicFrame>
    </p:spTree>
    <p:extLst>
      <p:ext uri="{BB962C8B-B14F-4D97-AF65-F5344CB8AC3E}">
        <p14:creationId xmlns:p14="http://schemas.microsoft.com/office/powerpoint/2010/main" val="1584026876"/>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4510</TotalTime>
  <Words>598</Words>
  <Application>Microsoft Office PowerPoint</Application>
  <PresentationFormat>Papel A4 (210 x 297 mm)</PresentationFormat>
  <Paragraphs>85</Paragraphs>
  <Slides>1</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vt:i4>
      </vt:variant>
    </vt:vector>
  </HeadingPairs>
  <TitlesOfParts>
    <vt:vector size="7" baseType="lpstr">
      <vt:lpstr>Arial</vt:lpstr>
      <vt:lpstr>Calibri</vt:lpstr>
      <vt:lpstr>Calibri Light</vt:lpstr>
      <vt:lpstr>Quicksand</vt:lpstr>
      <vt:lpstr>Quicksand Medium</vt:lpstr>
      <vt:lpstr>Tema do Office</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Igor Santiago</dc:creator>
  <cp:lastModifiedBy>Igor Santiago</cp:lastModifiedBy>
  <cp:revision>65</cp:revision>
  <dcterms:created xsi:type="dcterms:W3CDTF">2024-10-18T20:24:55Z</dcterms:created>
  <dcterms:modified xsi:type="dcterms:W3CDTF">2026-01-21T20:04:47Z</dcterms:modified>
</cp:coreProperties>
</file>